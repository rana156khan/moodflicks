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This is our campaign, written as the rulebook that comes in the 3M box. 3M: Mastering Marketing at MICA is a paid, offline national board game tournament for business students: 2 to 4 players per table, 75 minutes a game, qualifiers in 5 cities and 16 finalists at MICA. Big idea: "Think you can market? Prove it on the board." Tagline: Play the Market. Win the Market.</a:t>
            </a:r>
          </a:p>
          <a:p/>
          <a:p>
            <a:r>
              <a:t>CANVA ANIMATION RECIPE (Animate panel, apply top to bottom)</a:t>
            </a:r>
          </a:p>
          <a:p>
            <a:r>
              <a:t>- Page: Fade</a:t>
            </a:r>
          </a:p>
          <a:p>
            <a:r>
              <a:t>- 3D game board: Pan (in from the right)</a:t>
            </a:r>
          </a:p>
          <a:p>
            <a:r>
              <a:t>- Red and white pawns: Stomp</a:t>
            </a:r>
          </a:p>
          <a:p>
            <a:r>
              <a:t>- Die: Tumble</a:t>
            </a:r>
          </a:p>
          <a:p>
            <a:r>
              <a:t>- Headline: Typewriter</a:t>
            </a:r>
          </a:p>
          <a:p>
            <a:r>
              <a:t>- Tagline pill + tagline: Pop</a:t>
            </a:r>
          </a:p>
          <a:p>
            <a:r>
              <a:t>- Four box badges: Pop</a:t>
            </a:r>
          </a:p>
          <a:p>
            <a:r>
              <a:t>- Players score pad (select the group): Rise</a:t>
            </a:r>
          </a:p>
          <a:p>
            <a:r>
              <a:t>- Optional: red pawn with "Create an Animation" - drag it in a short hop onto the board's START corner.</a:t>
            </a:r>
          </a:p>
          <a:p>
            <a:r>
              <a:t>Shortcut: Magic Animate applies a consistent style to the whole deck in one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The brief: a campaign that gets 500 paid enrolments for a paid tournament of our fictitious game. Our plan delivers 504 and breaks even at about 370. Primary players are business and management students (BBA, BMS, MBA, PGDM, 18-26) in five cities, especially marketing-club members; secondary are marketing-curious students and MBA aspirants. Insight: they want CV-worthy wins, but case competitions demand a team, weeks and a deck. 3M is solo entry, 75 minutes and pays cash.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Win condition card + "500": Pop</a:t>
            </a:r>
          </a:p>
          <a:p>
            <a:r>
              <a:t>- Big idea and tagline: Typewriter</a:t>
            </a:r>
          </a:p>
          <a:p>
            <a:r>
              <a:t>- Segment cards: Rise (one after the other)</a:t>
            </a:r>
          </a:p>
          <a:p>
            <a:r>
              <a:t>- Insight card: Tumble</a:t>
            </a:r>
          </a:p>
          <a:p>
            <a:r>
              <a:t>- Why pay list: Rise</a:t>
            </a:r>
          </a:p>
          <a:p>
            <a:r>
              <a:t>- Contents strip: Fade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3M is a board and card strategy game for 2 to 4 players; a game takes up to 75 minutes over 6 quarters. Each player runs a brand. The board has four campus zones, one for each P: Product Lab, Pricing Plaza, Distribution Dock and Promotion Studio, where players buy marketing-mix cards from a fixed budget. Segment cards say what each target segment values; Market Event and Crisis cards shake up the game. Each tournament set (laminated A2 board, card decks, tokens, box) costs about Rs 400; we need 40.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Game board: Rise</a:t>
            </a:r>
          </a:p>
          <a:p>
            <a:r>
              <a:t>- Numbered callouts 1-8 on the board: Pop</a:t>
            </a:r>
          </a:p>
          <a:p>
            <a:r>
              <a:t>- Pawns: Stomp (or "Create an Animation" to hop them off START)</a:t>
            </a:r>
          </a:p>
          <a:p>
            <a:r>
              <a:t>- Stat tiles: Pop</a:t>
            </a:r>
          </a:p>
          <a:p>
            <a:r>
              <a:t>- Legend (titles + text): Rise</a:t>
            </a:r>
          </a:p>
          <a:p>
            <a:r>
              <a:t>- Components box: Fade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Four steps a turn. 1) Pick a brand, secretly pick a target segment card and write a one-line positioning. 2) Move around the four zones and buy 4P mix cards from a fixed budget. 3) Market Event and Crisis cards hit everyone: adapt or lose share. 4) Every quarter, cards that match what your segment values earn Fit Points and market share is split in proportion; two brands on one segment split it. Highest total share after 6 quarters wins. It teaches STP, positioning, the 4Ps, consumer insight, competitive response, crisis and PR, and budgeting for ROI. The video on the right is our 1-min how-to-play video; click it to play.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Step dice 1-4: Tumble</a:t>
            </a:r>
          </a:p>
          <a:p>
            <a:r>
              <a:t>- Step titles and rules: Rise</a:t>
            </a:r>
          </a:p>
          <a:p>
            <a:r>
              <a:t>- Example boxes: Pop (one after another, left to right)</a:t>
            </a:r>
          </a:p>
          <a:p>
            <a:r>
              <a:t>- How you win box: Stomp</a:t>
            </a:r>
          </a:p>
          <a:p>
            <a:r>
              <a:t>- Skill chips: Pop</a:t>
            </a:r>
          </a:p>
          <a:p>
            <a:r>
              <a:t>- Sample cards: Tumble</a:t>
            </a:r>
          </a:p>
          <a:p>
            <a:r>
              <a:t>- Video: set to autoplay when presenting (video settings in Canva)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Three stages: register (26 Oct to 22 Nov, solo entry, Saturday or Sunday slot), city qualifiers (28 Nov to 6 Dec) and finals at MICA on 12 Dec. On qualifier day everyone plays 3 rounds at 4-player tables: random seating first, then players on similar points meet. Placement points are 5-3-2-1, tiebreak on total market share. At the finals, 16 players play 3 rounds on 4 tables and the top 4 play one final table. We stay fully offline because the Online Gaming Act, 2025 (in force since 1 May 2026) bans online money games. Free practice material doubles as marketing.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Stage spaces 1-3: Pan (left to right)</a:t>
            </a:r>
          </a:p>
          <a:p>
            <a:r>
              <a:t>- Arrows: Fade</a:t>
            </a:r>
          </a:p>
          <a:p>
            <a:r>
              <a:t>- Qualifier rules: Rise</a:t>
            </a:r>
          </a:p>
          <a:p>
            <a:r>
              <a:t>- Placement point tiles: Pop</a:t>
            </a:r>
          </a:p>
          <a:p>
            <a:r>
              <a:t>- Finals tables + bracket lines + final table: Rise, then Stomp on the final table</a:t>
            </a:r>
          </a:p>
          <a:p>
            <a:r>
              <a:t>- House rule box: Rise</a:t>
            </a:r>
          </a:p>
          <a:p>
            <a:r>
              <a:t>- Tip box + die: Tumble on the die, Fade on the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Qualifiers run over two weekends so the same 40 game sets can be reused: Ahmedabad and Delhi on 28-29 Nov, Mumbai, Bengaluru and Pune on 5-6 Dec. We expect 504 players, split by the number of ambassador colleges per city. Players pick a Saturday or Sunday slot, which halves the tables per day. The 16 finalist seats are split by actual paid enrolments (largest remainder, minimum 2 per city), announced on 23 Nov. Finals are at MICA on 12 Dec.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Weekend brackets: Fade</a:t>
            </a:r>
          </a:p>
          <a:p>
            <a:r>
              <a:t>- City spaces: Pan (left to right, one after another)</a:t>
            </a:r>
          </a:p>
          <a:p>
            <a:r>
              <a:t>- Player counts: Pop</a:t>
            </a:r>
          </a:p>
          <a:p>
            <a:r>
              <a:t>- Finals space: Stomp</a:t>
            </a:r>
          </a:p>
          <a:p>
            <a:r>
              <a:t>- Totals band: Rise</a:t>
            </a:r>
          </a:p>
          <a:p>
            <a:r>
              <a:t>- Three notes: Rise</a:t>
            </a:r>
          </a:p>
          <a:p>
            <a:r>
              <a:t>- Optional: a pawn moving across the city spaces with "Create an Animation" ending on the Finals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Entry is Rs 299; early birds (first 150 or until 1 Nov) and referred friends pay Rs 249. The prize pool is Rs 20,000 guaranteed, plus Rs 50 for every paid player after 300, capped at Rs 30,000 at 500 players; at the cap it splits 12,000 / 8,000 / 6,000 / 4,000. Prizes are paid by bank transfer within 7 days; TDS applies to any prize above Rs 10,000 and we say so upfront. Everyone gets a certificate, finalists get merit certificates, trophies, merch, meals and a hostel stay. Refunds: full if we cancel, 50% until 22 Nov, none after.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Money notes: Pan (in from the left, one after another)</a:t>
            </a:r>
          </a:p>
          <a:p>
            <a:r>
              <a:t>- Rs 20,000 figure: Stomp</a:t>
            </a:r>
          </a:p>
          <a:p>
            <a:r>
              <a:t>- Trophy: Tumble</a:t>
            </a:r>
          </a:p>
          <a:p>
            <a:r>
              <a:t>- Meter bars: Rise (or "Create an Animation" to slide the red part in from the left)</a:t>
            </a:r>
          </a:p>
          <a:p>
            <a:r>
              <a:t>- Prize split table: Rise</a:t>
            </a:r>
          </a:p>
          <a:p>
            <a:r>
              <a:t>- Payouts &amp; perks card: Rise</a:t>
            </a:r>
          </a:p>
          <a:p>
            <a:r>
              <a:t>- Refunds card: Fade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Reach of 3.3 lakh gives 6,400 clicks, 648 sign-ups and 438 paid; 15% of payers bring a friend for 66 more, so 504 paid. Instagram ads bring the most reach, but campus ambassadors (40 colleges, WhatsApp groups) are the strongest converters with 144 paid. Fee mix: 150 early birds and 66 referred friends at Rs 249, 288 at Rs 299. We test these assumptions at the 5 Nov checkpoint.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Funnel spaces: Pan (left to right, one after another)</a:t>
            </a:r>
          </a:p>
          <a:p>
            <a:r>
              <a:t>- Red pawn: "Create an Animation" - drag it along the track from REACH to the red 504 space</a:t>
            </a:r>
          </a:p>
          <a:p>
            <a:r>
              <a:t>- 504 space: Stomp</a:t>
            </a:r>
          </a:p>
          <a:p>
            <a:r>
              <a:t>- Channel table: Rise</a:t>
            </a:r>
          </a:p>
          <a:p>
            <a:r>
              <a:t>- Fee mix bars: Rise; fee mix rows: Fade</a:t>
            </a:r>
          </a:p>
          <a:p>
            <a:r>
              <a:t>- Ambassador callout: Pop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Awareness runs on one A3 poster and four Instagram feed posts, each paired with a Story sticker: the teaser (24 Oct, countdown), launch and how to play (26 Oct, link + quiz), "the prize pool just grew" as students return after Diwali (12 Nov, poll) and last call (20 Nov, countdown). During the Diwali break (6-11 Nov), the Diwali Duo referral push runs on Stories and WhatsApp: gift a friend a seat; the friend pays Rs 249 with your code. Posts are collab-posted with MICA and partner clubs.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Poster and four posts: Rise (one after another, left to right) - like dealing cards</a:t>
            </a:r>
          </a:p>
          <a:p>
            <a:r>
              <a:t>- Date pills: Pop</a:t>
            </a:r>
          </a:p>
          <a:p>
            <a:r>
              <a:t>- Titles, hooks and story lines: Fade</a:t>
            </a:r>
          </a:p>
          <a:p>
            <a:r>
              <a:t>- Diwali Duo card: Tumble; its two pawns: Stomp</a:t>
            </a:r>
          </a:p>
          <a:p>
            <a:r>
              <a:t>- Hashtags card: Typewriter on the hashtag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The landing page does the converting: hero and Register Rs 299 button, a live prize-pool counter with countdown, why play, how to play with a click-the-dice mini-game, the format, a city and slot picker, a prize calculator, the registration form that issues a player pass and referral code, and an FAQ covering refunds, tax, legality and travel. Anyone who signs up but does not pay gets a three-message WhatsApp sequence: a welcome with the payment link, social proof two days later (players in, pool size), and a last call 24 hours before registrations close.</a:t>
            </a:r>
          </a:p>
          <a:p/>
          <a:p>
            <a:r>
              <a:t>WHATSAPP SEQUENCE (draft copy)</a:t>
            </a:r>
          </a:p>
          <a:p>
            <a:r>
              <a:t>1) Right after sign-up: Hi {Name}, your seat at the 3M Championship is almost yours. Your {City} qualifier slot ({Sat/Sun}) is on hold. Pay Rs 299 to lock it in: {link}. Free print-and-play rules + 1-min video: {link}</a:t>
            </a:r>
          </a:p>
          <a:p>
            <a:r>
              <a:t>2) Two days later: {Name}, 312 players are in and the prize pool is now Rs 20,600. It grows Rs 50 with every new player, up to Rs 30,000, and Rs 20,000 is guaranteed. Your {City} seat is still open: {link}</a:t>
            </a:r>
          </a:p>
          <a:p>
            <a:r>
              <a:t>3) Sat 21 Nov, 24 h before close: Last call, {Name}. Registrations close tomorrow, Sun 22 Nov, at 11:59 PM. After that, your seat goes to someone else. Rs 299 - solo entry - 75 min. Pay here: {link}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Laptop (frame + screenshot): Rise</a:t>
            </a:r>
          </a:p>
          <a:p>
            <a:r>
              <a:t>- Phone (frame + screenshot): Pan (in from the right)</a:t>
            </a:r>
          </a:p>
          <a:p>
            <a:r>
              <a:t>- Landing callouts 1-8: Pop</a:t>
            </a:r>
          </a:p>
          <a:p>
            <a:r>
              <a:t>- WhatsApp panel: Fade; bubbles 1-3: Rise (one after another, like messages arriving)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The campaign runs like turns on the board: prepare (15-25 Oct), tease (24 Oct), launch with the early bird (26 Oct-1 Nov), push and the 5 Nov checkpoint, the Diwali window with the Diwali Duo referral push (6-11 Nov), the back-to-campus push (12-15 Nov), last call (16-22 Nov), logistics, two qualifier weekends and the finals at MICA on 12 Dec. Pacing: 150 early birds by 1 Nov, at least 200 paid by 5 Nov, 312 by 12 Nov and 504 when registrations close on 22 Nov.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Timeline spaces 1-6, then 7-11: Pan (left to right, one after another)</a:t>
            </a:r>
          </a:p>
          <a:p>
            <a:r>
              <a:t>- POST tags: Pop</a:t>
            </a:r>
          </a:p>
          <a:p>
            <a:r>
              <a:t>- Finals space + trophy: Stomp, then Tumble on the trophy</a:t>
            </a:r>
          </a:p>
          <a:p>
            <a:r>
              <a:t>- Pacing checkpoints: Rise</a:t>
            </a:r>
          </a:p>
          <a:p>
            <a:r>
              <a:t>- Optional: a pawn with "Create an Animation" travelling space to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At 504 paid we take Rs 1,39,896 gross and Rs 1,36,594 after gateway fees. Running costs are Rs 75,000 and the prize pool at the cap is Rs 30,000, leaving a surplus of about Rs 31,600, kept as a refund reserve and seed money for Season 2. Break-even is about 370 paid. The downside: at 300 paid we would lose about Rs 16,600 because the Rs 20,000 prize is guaranteed; the hosting club's events budget and sponsors cover it, and the 5 Nov checkpoint lets us react early. Even if every channel delivers only 75% of plan, we still break even. Credits: this whole campaign was made with Claude.</a:t>
            </a:r>
          </a:p>
          <a:p/>
          <a:p>
            <a:r>
              <a:t>CANVA ANIMATION RECIPE</a:t>
            </a:r>
          </a:p>
          <a:p>
            <a:r>
              <a:t>- Page: Fade</a:t>
            </a:r>
          </a:p>
          <a:p>
            <a:r>
              <a:t>- Revenue score pad: Rise</a:t>
            </a:r>
          </a:p>
          <a:p>
            <a:r>
              <a:t>- Final score card: Rise, then Stomp on the surplus figure</a:t>
            </a:r>
          </a:p>
          <a:p>
            <a:r>
              <a:t>- Costs score pad: Rise</a:t>
            </a:r>
          </a:p>
          <a:p>
            <a:r>
              <a:t>- Break-even card: Pop</a:t>
            </a:r>
          </a:p>
          <a:p>
            <a:r>
              <a:t>- Sensitivity table: Rise</a:t>
            </a:r>
          </a:p>
          <a:p>
            <a:r>
              <a:t>- Credits box: Fade</a:t>
            </a:r>
          </a:p>
          <a:p>
            <a:r>
              <a:t>- Tagline sign-off: Typewriter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1C2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M logo seal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1000"/>
            <a:ext cx="711200" cy="711200"/>
          </a:xfrm>
          <a:prstGeom prst="rect">
            <a:avLst/>
          </a:prstGeom>
        </p:spPr>
      </p:pic>
      <p:sp>
        <p:nvSpPr>
          <p:cNvPr id="3" name="Event name"/>
          <p:cNvSpPr txBox="1"/>
          <p:nvPr/>
        </p:nvSpPr>
        <p:spPr>
          <a:xfrm>
            <a:off x="1460500" y="469900"/>
            <a:ext cx="48260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3M Championship 2026</a:t>
            </a:r>
          </a:p>
        </p:txBody>
      </p:sp>
      <p:sp>
        <p:nvSpPr>
          <p:cNvPr id="4" name="Event subline"/>
          <p:cNvSpPr txBox="1"/>
          <p:nvPr/>
        </p:nvSpPr>
        <p:spPr>
          <a:xfrm>
            <a:off x="1473200" y="825500"/>
            <a:ext cx="4826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 spc="2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5" name="Hosted by"/>
          <p:cNvSpPr txBox="1"/>
          <p:nvPr/>
        </p:nvSpPr>
        <p:spPr>
          <a:xfrm>
            <a:off x="9398000" y="609600"/>
            <a:ext cx="1206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Hosted by</a:t>
            </a:r>
          </a:p>
        </p:txBody>
      </p:sp>
      <p:pic>
        <p:nvPicPr>
          <p:cNvPr id="6" name="MICA logo (white)" descr="mic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0" y="330200"/>
            <a:ext cx="698500" cy="782320"/>
          </a:xfrm>
          <a:prstGeom prst="rect">
            <a:avLst/>
          </a:prstGeom>
        </p:spPr>
      </p:pic>
      <p:sp>
        <p:nvSpPr>
          <p:cNvPr id="7" name="Rulebook tab"/>
          <p:cNvSpPr/>
          <p:nvPr/>
        </p:nvSpPr>
        <p:spPr>
          <a:xfrm>
            <a:off x="609600" y="1498600"/>
            <a:ext cx="2489200" cy="342900"/>
          </a:xfrm>
          <a:prstGeom prst="roundRect">
            <a:avLst>
              <a:gd name="adj" fmla="val 18518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ulebook tab text"/>
          <p:cNvSpPr txBox="1"/>
          <p:nvPr/>
        </p:nvSpPr>
        <p:spPr>
          <a:xfrm>
            <a:off x="609600" y="1498600"/>
            <a:ext cx="24892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50" b="1" i="0" spc="2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THE CAMPAIGN RULEBOOK</a:t>
            </a:r>
          </a:p>
        </p:txBody>
      </p:sp>
      <p:sp>
        <p:nvSpPr>
          <p:cNvPr id="9" name="Kicker"/>
          <p:cNvSpPr txBox="1"/>
          <p:nvPr/>
        </p:nvSpPr>
        <p:spPr>
          <a:xfrm>
            <a:off x="3251200" y="1587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 spc="2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NATIONAL BOARD GAME TOURNAMENT FOR BUSINESS STUDENTS</a:t>
            </a:r>
          </a:p>
        </p:txBody>
      </p:sp>
      <p:sp>
        <p:nvSpPr>
          <p:cNvPr id="10" name="Headline: big idea"/>
          <p:cNvSpPr txBox="1"/>
          <p:nvPr/>
        </p:nvSpPr>
        <p:spPr>
          <a:xfrm>
            <a:off x="584200" y="2019300"/>
            <a:ext cx="74930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7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Think you can market?</a:t>
            </a:r>
          </a:p>
          <a:p>
            <a:pPr algn="l">
              <a:lnSpc>
                <a:spcPct val="100000"/>
              </a:lnSpc>
            </a:pPr>
            <a:r>
              <a:rPr sz="47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Prove it on the board.</a:t>
            </a:r>
          </a:p>
        </p:txBody>
      </p:sp>
      <p:sp>
        <p:nvSpPr>
          <p:cNvPr id="11" name="Tagline pill"/>
          <p:cNvSpPr/>
          <p:nvPr/>
        </p:nvSpPr>
        <p:spPr>
          <a:xfrm>
            <a:off x="609600" y="3594100"/>
            <a:ext cx="35560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agline"/>
          <p:cNvSpPr txBox="1"/>
          <p:nvPr/>
        </p:nvSpPr>
        <p:spPr>
          <a:xfrm>
            <a:off x="609600" y="35941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PLAY THE MARKET. WIN THE MARKET.</a:t>
            </a:r>
          </a:p>
        </p:txBody>
      </p:sp>
      <p:pic>
        <p:nvPicPr>
          <p:cNvPr id="13" name="3D game board" descr="board_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0" y="2095500"/>
            <a:ext cx="5715000" cy="4050028"/>
          </a:xfrm>
          <a:prstGeom prst="rect">
            <a:avLst/>
          </a:prstGeom>
        </p:spPr>
      </p:pic>
      <p:pic>
        <p:nvPicPr>
          <p:cNvPr id="14" name="Pawn white" descr="pa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700" y="2235200"/>
            <a:ext cx="533400" cy="720090"/>
          </a:xfrm>
          <a:prstGeom prst="rect">
            <a:avLst/>
          </a:prstGeom>
        </p:spPr>
      </p:pic>
      <p:pic>
        <p:nvPicPr>
          <p:cNvPr id="15" name="Pawn red" descr="pawn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700" y="2044700"/>
            <a:ext cx="571500" cy="771525"/>
          </a:xfrm>
          <a:prstGeom prst="rect">
            <a:avLst/>
          </a:prstGeom>
        </p:spPr>
      </p:pic>
      <p:pic>
        <p:nvPicPr>
          <p:cNvPr id="16" name="Die" descr="d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1500" y="4953000"/>
            <a:ext cx="1079500" cy="1079500"/>
          </a:xfrm>
          <a:prstGeom prst="rect">
            <a:avLst/>
          </a:prstGeom>
        </p:spPr>
      </p:pic>
      <p:sp>
        <p:nvSpPr>
          <p:cNvPr id="17" name="Box badge 1"/>
          <p:cNvSpPr/>
          <p:nvPr/>
        </p:nvSpPr>
        <p:spPr>
          <a:xfrm>
            <a:off x="609600" y="4140200"/>
            <a:ext cx="1206500" cy="71120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Box badge 1 value"/>
          <p:cNvSpPr txBox="1"/>
          <p:nvPr/>
        </p:nvSpPr>
        <p:spPr>
          <a:xfrm>
            <a:off x="723900" y="42037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2–4</a:t>
            </a:r>
          </a:p>
        </p:txBody>
      </p:sp>
      <p:sp>
        <p:nvSpPr>
          <p:cNvPr id="19" name="Box badge 1 label"/>
          <p:cNvSpPr txBox="1"/>
          <p:nvPr/>
        </p:nvSpPr>
        <p:spPr>
          <a:xfrm>
            <a:off x="723900" y="4572000"/>
            <a:ext cx="104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PLAYERS PER TABLE</a:t>
            </a:r>
          </a:p>
        </p:txBody>
      </p:sp>
      <p:sp>
        <p:nvSpPr>
          <p:cNvPr id="20" name="Box badge 2"/>
          <p:cNvSpPr/>
          <p:nvPr/>
        </p:nvSpPr>
        <p:spPr>
          <a:xfrm>
            <a:off x="1917700" y="4140200"/>
            <a:ext cx="1206500" cy="71120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Box badge 2 value"/>
          <p:cNvSpPr txBox="1"/>
          <p:nvPr/>
        </p:nvSpPr>
        <p:spPr>
          <a:xfrm>
            <a:off x="2032000" y="42037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75</a:t>
            </a:r>
          </a:p>
        </p:txBody>
      </p:sp>
      <p:sp>
        <p:nvSpPr>
          <p:cNvPr id="22" name="Box badge 2 label"/>
          <p:cNvSpPr txBox="1"/>
          <p:nvPr/>
        </p:nvSpPr>
        <p:spPr>
          <a:xfrm>
            <a:off x="2032000" y="4572000"/>
            <a:ext cx="104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MINUTES A GAME</a:t>
            </a:r>
          </a:p>
        </p:txBody>
      </p:sp>
      <p:sp>
        <p:nvSpPr>
          <p:cNvPr id="23" name="Box badge 3"/>
          <p:cNvSpPr/>
          <p:nvPr/>
        </p:nvSpPr>
        <p:spPr>
          <a:xfrm>
            <a:off x="3225800" y="4140200"/>
            <a:ext cx="1206500" cy="71120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Box badge 3 value"/>
          <p:cNvSpPr txBox="1"/>
          <p:nvPr/>
        </p:nvSpPr>
        <p:spPr>
          <a:xfrm>
            <a:off x="3340100" y="42037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</a:t>
            </a:r>
          </a:p>
        </p:txBody>
      </p:sp>
      <p:sp>
        <p:nvSpPr>
          <p:cNvPr id="25" name="Box badge 3 label"/>
          <p:cNvSpPr txBox="1"/>
          <p:nvPr/>
        </p:nvSpPr>
        <p:spPr>
          <a:xfrm>
            <a:off x="3340100" y="4572000"/>
            <a:ext cx="104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CITY QUALIFIERS</a:t>
            </a:r>
          </a:p>
        </p:txBody>
      </p:sp>
      <p:sp>
        <p:nvSpPr>
          <p:cNvPr id="26" name="Box badge 4"/>
          <p:cNvSpPr/>
          <p:nvPr/>
        </p:nvSpPr>
        <p:spPr>
          <a:xfrm>
            <a:off x="4533900" y="4140200"/>
            <a:ext cx="1206500" cy="71120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Box badge 4 value"/>
          <p:cNvSpPr txBox="1"/>
          <p:nvPr/>
        </p:nvSpPr>
        <p:spPr>
          <a:xfrm>
            <a:off x="4648200" y="42037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16</a:t>
            </a:r>
          </a:p>
        </p:txBody>
      </p:sp>
      <p:sp>
        <p:nvSpPr>
          <p:cNvPr id="28" name="Box badge 4 label"/>
          <p:cNvSpPr txBox="1"/>
          <p:nvPr/>
        </p:nvSpPr>
        <p:spPr>
          <a:xfrm>
            <a:off x="4648200" y="4572000"/>
            <a:ext cx="104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FINALISTS · 1 CHAMPION</a:t>
            </a:r>
          </a:p>
        </p:txBody>
      </p:sp>
      <p:sp>
        <p:nvSpPr>
          <p:cNvPr id="29" name="Players score pad"/>
          <p:cNvSpPr/>
          <p:nvPr/>
        </p:nvSpPr>
        <p:spPr>
          <a:xfrm>
            <a:off x="609600" y="5016500"/>
            <a:ext cx="5130800" cy="143510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Score pad header"/>
          <p:cNvSpPr/>
          <p:nvPr/>
        </p:nvSpPr>
        <p:spPr>
          <a:xfrm>
            <a:off x="609600" y="5016500"/>
            <a:ext cx="5130800" cy="2921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Score pad title"/>
          <p:cNvSpPr txBox="1"/>
          <p:nvPr/>
        </p:nvSpPr>
        <p:spPr>
          <a:xfrm>
            <a:off x="749300" y="5016500"/>
            <a:ext cx="25400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1" i="0" spc="2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PLAYERS</a:t>
            </a:r>
          </a:p>
        </p:txBody>
      </p:sp>
      <p:sp>
        <p:nvSpPr>
          <p:cNvPr id="32" name="Group / course"/>
          <p:cNvSpPr txBox="1"/>
          <p:nvPr/>
        </p:nvSpPr>
        <p:spPr>
          <a:xfrm>
            <a:off x="2667000" y="5016500"/>
            <a:ext cx="29591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GROUP [No.]  ·  [Course name]</a:t>
            </a:r>
          </a:p>
        </p:txBody>
      </p:sp>
      <p:sp>
        <p:nvSpPr>
          <p:cNvPr id="33" name="Player 1 placeholder"/>
          <p:cNvSpPr txBox="1"/>
          <p:nvPr/>
        </p:nvSpPr>
        <p:spPr>
          <a:xfrm>
            <a:off x="749300" y="5397500"/>
            <a:ext cx="2349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P1  </a:t>
            </a:r>
            <a:r>
              <a:rPr sz="10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[Group member name]</a:t>
            </a:r>
          </a:p>
        </p:txBody>
      </p:sp>
      <p:cxnSp>
        <p:nvCxnSpPr>
          <p:cNvPr id="34" name="Score pad line"/>
          <p:cNvCxnSpPr/>
          <p:nvPr/>
        </p:nvCxnSpPr>
        <p:spPr>
          <a:xfrm>
            <a:off x="749300" y="5676900"/>
            <a:ext cx="2286000" cy="0"/>
          </a:xfrm>
          <a:prstGeom prst="line">
            <a:avLst/>
          </a:prstGeom>
          <a:ln w="12700">
            <a:solidFill>
              <a:srgbClr val="E7DEDB"/>
            </a:solidFill>
            <a:prstDash val="dash"/>
          </a:ln>
        </p:spPr>
      </p:cxnSp>
      <p:sp>
        <p:nvSpPr>
          <p:cNvPr id="35" name="Player 2 placeholder"/>
          <p:cNvSpPr txBox="1"/>
          <p:nvPr/>
        </p:nvSpPr>
        <p:spPr>
          <a:xfrm>
            <a:off x="749300" y="5727700"/>
            <a:ext cx="2349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P2  </a:t>
            </a:r>
            <a:r>
              <a:rPr sz="10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[Group member name]</a:t>
            </a:r>
          </a:p>
        </p:txBody>
      </p:sp>
      <p:cxnSp>
        <p:nvCxnSpPr>
          <p:cNvPr id="36" name="Score pad line"/>
          <p:cNvCxnSpPr/>
          <p:nvPr/>
        </p:nvCxnSpPr>
        <p:spPr>
          <a:xfrm>
            <a:off x="749300" y="6007100"/>
            <a:ext cx="2286000" cy="0"/>
          </a:xfrm>
          <a:prstGeom prst="line">
            <a:avLst/>
          </a:prstGeom>
          <a:ln w="12700">
            <a:solidFill>
              <a:srgbClr val="E7DEDB"/>
            </a:solidFill>
            <a:prstDash val="dash"/>
          </a:ln>
        </p:spPr>
      </p:cxnSp>
      <p:sp>
        <p:nvSpPr>
          <p:cNvPr id="37" name="Player 3 placeholder"/>
          <p:cNvSpPr txBox="1"/>
          <p:nvPr/>
        </p:nvSpPr>
        <p:spPr>
          <a:xfrm>
            <a:off x="749300" y="6057900"/>
            <a:ext cx="2349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P3  </a:t>
            </a:r>
            <a:r>
              <a:rPr sz="10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[Group member name]</a:t>
            </a:r>
          </a:p>
        </p:txBody>
      </p:sp>
      <p:cxnSp>
        <p:nvCxnSpPr>
          <p:cNvPr id="38" name="Score pad line"/>
          <p:cNvCxnSpPr/>
          <p:nvPr/>
        </p:nvCxnSpPr>
        <p:spPr>
          <a:xfrm>
            <a:off x="749300" y="6337300"/>
            <a:ext cx="2286000" cy="0"/>
          </a:xfrm>
          <a:prstGeom prst="line">
            <a:avLst/>
          </a:prstGeom>
          <a:ln w="12700">
            <a:solidFill>
              <a:srgbClr val="E7DEDB"/>
            </a:solidFill>
            <a:prstDash val="dash"/>
          </a:ln>
        </p:spPr>
      </p:cxnSp>
      <p:sp>
        <p:nvSpPr>
          <p:cNvPr id="39" name="Player 4 placeholder"/>
          <p:cNvSpPr txBox="1"/>
          <p:nvPr/>
        </p:nvSpPr>
        <p:spPr>
          <a:xfrm>
            <a:off x="3263900" y="5397500"/>
            <a:ext cx="2349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P4  </a:t>
            </a:r>
            <a:r>
              <a:rPr sz="10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[Group member name]</a:t>
            </a:r>
          </a:p>
        </p:txBody>
      </p:sp>
      <p:cxnSp>
        <p:nvCxnSpPr>
          <p:cNvPr id="40" name="Score pad line"/>
          <p:cNvCxnSpPr/>
          <p:nvPr/>
        </p:nvCxnSpPr>
        <p:spPr>
          <a:xfrm>
            <a:off x="3263900" y="5676900"/>
            <a:ext cx="2286000" cy="0"/>
          </a:xfrm>
          <a:prstGeom prst="line">
            <a:avLst/>
          </a:prstGeom>
          <a:ln w="12700">
            <a:solidFill>
              <a:srgbClr val="E7DEDB"/>
            </a:solidFill>
            <a:prstDash val="dash"/>
          </a:ln>
        </p:spPr>
      </p:cxnSp>
      <p:sp>
        <p:nvSpPr>
          <p:cNvPr id="41" name="Player 5 placeholder"/>
          <p:cNvSpPr txBox="1"/>
          <p:nvPr/>
        </p:nvSpPr>
        <p:spPr>
          <a:xfrm>
            <a:off x="3263900" y="5727700"/>
            <a:ext cx="2349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P5  </a:t>
            </a:r>
            <a:r>
              <a:rPr sz="10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[Group member name]</a:t>
            </a:r>
          </a:p>
        </p:txBody>
      </p:sp>
      <p:cxnSp>
        <p:nvCxnSpPr>
          <p:cNvPr id="42" name="Score pad line"/>
          <p:cNvCxnSpPr/>
          <p:nvPr/>
        </p:nvCxnSpPr>
        <p:spPr>
          <a:xfrm>
            <a:off x="3263900" y="6007100"/>
            <a:ext cx="2286000" cy="0"/>
          </a:xfrm>
          <a:prstGeom prst="line">
            <a:avLst/>
          </a:prstGeom>
          <a:ln w="12700">
            <a:solidFill>
              <a:srgbClr val="E7DEDB"/>
            </a:solidFill>
            <a:prstDash val="dash"/>
          </a:ln>
        </p:spPr>
      </p:cxnSp>
      <p:sp>
        <p:nvSpPr>
          <p:cNvPr id="43" name="Faculty placeholder"/>
          <p:cNvSpPr txBox="1"/>
          <p:nvPr/>
        </p:nvSpPr>
        <p:spPr>
          <a:xfrm>
            <a:off x="3263900" y="6057900"/>
            <a:ext cx="2349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Faculty  </a:t>
            </a:r>
            <a:r>
              <a:rPr sz="10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[Faculty name]</a:t>
            </a:r>
          </a:p>
        </p:txBody>
      </p:sp>
      <p:cxnSp>
        <p:nvCxnSpPr>
          <p:cNvPr id="44" name="Score pad line"/>
          <p:cNvCxnSpPr/>
          <p:nvPr/>
        </p:nvCxnSpPr>
        <p:spPr>
          <a:xfrm>
            <a:off x="3263900" y="6337300"/>
            <a:ext cx="2286000" cy="0"/>
          </a:xfrm>
          <a:prstGeom prst="line">
            <a:avLst/>
          </a:prstGeom>
          <a:ln w="12700">
            <a:solidFill>
              <a:srgbClr val="E7DEDB"/>
            </a:solidFill>
            <a:prstDash val="dash"/>
          </a:ln>
        </p:spPr>
      </p:cxnSp>
      <p:sp>
        <p:nvSpPr>
          <p:cNvPr id="45" name="Disclaimer"/>
          <p:cNvSpPr txBox="1"/>
          <p:nvPr/>
        </p:nvSpPr>
        <p:spPr>
          <a:xfrm>
            <a:off x="6096000" y="6540500"/>
            <a:ext cx="54864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650" b="0" i="0">
                <a:solidFill>
                  <a:srgbClr val="F3C9CB"/>
                </a:solidFill>
                <a:latin typeface="Space Mono"/>
                <a:ea typeface="Space Mono"/>
                <a:cs typeface="Space Mono"/>
              </a:rPr>
              <a:t>Student project for MICA coursework · The 3M game and tournament are fictitious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02  ·  BRIEF · GOAL · PLAYERS · INSIGHT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02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Object of the game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02 / 12</a:t>
            </a:r>
          </a:p>
        </p:txBody>
      </p:sp>
      <p:sp>
        <p:nvSpPr>
          <p:cNvPr id="14" name="Label: THE BRIEF"/>
          <p:cNvSpPr txBox="1"/>
          <p:nvPr/>
        </p:nvSpPr>
        <p:spPr>
          <a:xfrm>
            <a:off x="609600" y="1460500"/>
            <a:ext cx="3429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THE BRIEF</a:t>
            </a:r>
          </a:p>
        </p:txBody>
      </p:sp>
      <p:sp>
        <p:nvSpPr>
          <p:cNvPr id="15" name="Brief"/>
          <p:cNvSpPr txBox="1"/>
          <p:nvPr/>
        </p:nvSpPr>
        <p:spPr>
          <a:xfrm>
            <a:off x="609600" y="1663700"/>
            <a:ext cx="3429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Create a campaign for a paid tournament of the fictitious board game 3M: Mastering Marketing at MICA that gets 500 enrolments.</a:t>
            </a:r>
          </a:p>
        </p:txBody>
      </p:sp>
      <p:sp>
        <p:nvSpPr>
          <p:cNvPr id="16" name="Win condition card"/>
          <p:cNvSpPr/>
          <p:nvPr/>
        </p:nvSpPr>
        <p:spPr>
          <a:xfrm>
            <a:off x="609600" y="2540000"/>
            <a:ext cx="3429000" cy="1663700"/>
          </a:xfrm>
          <a:prstGeom prst="roundRect">
            <a:avLst>
              <a:gd name="adj" fmla="val 5343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Win condition label"/>
          <p:cNvSpPr txBox="1"/>
          <p:nvPr/>
        </p:nvSpPr>
        <p:spPr>
          <a:xfrm>
            <a:off x="800100" y="26670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WIN CONDITION</a:t>
            </a:r>
          </a:p>
        </p:txBody>
      </p:sp>
      <p:sp>
        <p:nvSpPr>
          <p:cNvPr id="18" name="Goal number"/>
          <p:cNvSpPr txBox="1"/>
          <p:nvPr/>
        </p:nvSpPr>
        <p:spPr>
          <a:xfrm>
            <a:off x="800100" y="2832100"/>
            <a:ext cx="1651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500</a:t>
            </a:r>
          </a:p>
        </p:txBody>
      </p:sp>
      <p:sp>
        <p:nvSpPr>
          <p:cNvPr id="19" name="Goal unit"/>
          <p:cNvSpPr txBox="1"/>
          <p:nvPr/>
        </p:nvSpPr>
        <p:spPr>
          <a:xfrm>
            <a:off x="2413000" y="3035300"/>
            <a:ext cx="14605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paid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enrolments</a:t>
            </a:r>
          </a:p>
        </p:txBody>
      </p:sp>
      <p:cxnSp>
        <p:nvCxnSpPr>
          <p:cNvPr id="20" name="Win card rule"/>
          <p:cNvCxnSpPr/>
          <p:nvPr/>
        </p:nvCxnSpPr>
        <p:spPr>
          <a:xfrm>
            <a:off x="800100" y="3746500"/>
            <a:ext cx="30480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sp>
        <p:nvSpPr>
          <p:cNvPr id="21" name="Plan vs break-even"/>
          <p:cNvSpPr txBox="1"/>
          <p:nvPr/>
        </p:nvSpPr>
        <p:spPr>
          <a:xfrm>
            <a:off x="800100" y="38354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Plan delivers </a:t>
            </a:r>
            <a:r>
              <a:rPr sz="11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504</a:t>
            </a:r>
            <a:r>
              <a:rPr sz="11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  ·  Break-even </a:t>
            </a:r>
            <a:r>
              <a:rPr sz="11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≈ 370</a:t>
            </a:r>
          </a:p>
        </p:txBody>
      </p:sp>
      <p:sp>
        <p:nvSpPr>
          <p:cNvPr id="22" name="Label: BIG IDEA"/>
          <p:cNvSpPr txBox="1"/>
          <p:nvPr/>
        </p:nvSpPr>
        <p:spPr>
          <a:xfrm>
            <a:off x="609600" y="4381500"/>
            <a:ext cx="3429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BIG IDEA</a:t>
            </a:r>
          </a:p>
        </p:txBody>
      </p:sp>
      <p:sp>
        <p:nvSpPr>
          <p:cNvPr id="23" name="Big idea"/>
          <p:cNvSpPr txBox="1"/>
          <p:nvPr/>
        </p:nvSpPr>
        <p:spPr>
          <a:xfrm>
            <a:off x="609600" y="4572000"/>
            <a:ext cx="3429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Think you can market? Prove it on the board.</a:t>
            </a:r>
          </a:p>
        </p:txBody>
      </p:sp>
      <p:sp>
        <p:nvSpPr>
          <p:cNvPr id="24" name="Label: TAGLINE"/>
          <p:cNvSpPr txBox="1"/>
          <p:nvPr/>
        </p:nvSpPr>
        <p:spPr>
          <a:xfrm>
            <a:off x="609600" y="5308600"/>
            <a:ext cx="3429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TAGLINE</a:t>
            </a:r>
          </a:p>
        </p:txBody>
      </p:sp>
      <p:sp>
        <p:nvSpPr>
          <p:cNvPr id="25" name="Tagline"/>
          <p:cNvSpPr txBox="1"/>
          <p:nvPr/>
        </p:nvSpPr>
        <p:spPr>
          <a:xfrm>
            <a:off x="609600" y="54991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Play the Market. Win the Market.</a:t>
            </a:r>
          </a:p>
        </p:txBody>
      </p:sp>
      <p:sp>
        <p:nvSpPr>
          <p:cNvPr id="26" name="Label: THE PLAYERS · TARGET SEG"/>
          <p:cNvSpPr txBox="1"/>
          <p:nvPr/>
        </p:nvSpPr>
        <p:spPr>
          <a:xfrm>
            <a:off x="4318000" y="1460500"/>
            <a:ext cx="3429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THE PLAYERS · TARGET SEGMENTS</a:t>
            </a:r>
          </a:p>
        </p:txBody>
      </p:sp>
      <p:sp>
        <p:nvSpPr>
          <p:cNvPr id="27" name="Segment card 1"/>
          <p:cNvSpPr/>
          <p:nvPr/>
        </p:nvSpPr>
        <p:spPr>
          <a:xfrm>
            <a:off x="4318000" y="1689100"/>
            <a:ext cx="3429000" cy="19812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28" name="Segment card 1 tag"/>
          <p:cNvSpPr txBox="1"/>
          <p:nvPr/>
        </p:nvSpPr>
        <p:spPr>
          <a:xfrm>
            <a:off x="4483100" y="1803400"/>
            <a:ext cx="2413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SEGMENT · PRIMARY</a:t>
            </a:r>
          </a:p>
        </p:txBody>
      </p:sp>
      <p:sp>
        <p:nvSpPr>
          <p:cNvPr id="29" name="Segment card 1 mark"/>
          <p:cNvSpPr txBox="1"/>
          <p:nvPr/>
        </p:nvSpPr>
        <p:spPr>
          <a:xfrm>
            <a:off x="7048500" y="1790700"/>
            <a:ext cx="5715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3M</a:t>
            </a:r>
          </a:p>
        </p:txBody>
      </p:sp>
      <p:sp>
        <p:nvSpPr>
          <p:cNvPr id="30" name="Segment card 1 target"/>
          <p:cNvSpPr/>
          <p:nvPr/>
        </p:nvSpPr>
        <p:spPr>
          <a:xfrm>
            <a:off x="4483100" y="2082800"/>
            <a:ext cx="342900" cy="342900"/>
          </a:xfrm>
          <a:prstGeom prst="ellipse">
            <a:avLst/>
          </a:prstGeom>
          <a:noFill/>
          <a:ln w="285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31" name="Segment card 1 target"/>
          <p:cNvSpPr/>
          <p:nvPr/>
        </p:nvSpPr>
        <p:spPr>
          <a:xfrm>
            <a:off x="4568825" y="2168525"/>
            <a:ext cx="171450" cy="171450"/>
          </a:xfrm>
          <a:prstGeom prst="ellipse">
            <a:avLst/>
          </a:prstGeom>
          <a:noFill/>
          <a:ln w="285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32" name="Segment card 1 target"/>
          <p:cNvSpPr/>
          <p:nvPr/>
        </p:nvSpPr>
        <p:spPr>
          <a:xfrm>
            <a:off x="4627118" y="2226818"/>
            <a:ext cx="54864" cy="54864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Segment card 1 title"/>
          <p:cNvSpPr txBox="1"/>
          <p:nvPr/>
        </p:nvSpPr>
        <p:spPr>
          <a:xfrm>
            <a:off x="4940300" y="2057400"/>
            <a:ext cx="26670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Business &amp; management students</a:t>
            </a:r>
          </a:p>
        </p:txBody>
      </p:sp>
      <p:sp>
        <p:nvSpPr>
          <p:cNvPr id="34" name="Segment card 1 body"/>
          <p:cNvSpPr txBox="1"/>
          <p:nvPr/>
        </p:nvSpPr>
        <p:spPr>
          <a:xfrm>
            <a:off x="4483100" y="2552700"/>
            <a:ext cx="31369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BBA, BMS, MBA and PGDM students aged 18–26 in Ahmedabad, Mumbai, Delhi, Bengaluru and Pune, especially members of marketing clubs.</a:t>
            </a:r>
          </a:p>
        </p:txBody>
      </p:sp>
      <p:sp>
        <p:nvSpPr>
          <p:cNvPr id="35" name="Segment card 1 values"/>
          <p:cNvSpPr txBox="1"/>
          <p:nvPr/>
        </p:nvSpPr>
        <p:spPr>
          <a:xfrm>
            <a:off x="4483100" y="3390900"/>
            <a:ext cx="31369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Values: CV-worthy wins · cash · speed</a:t>
            </a:r>
          </a:p>
        </p:txBody>
      </p:sp>
      <p:sp>
        <p:nvSpPr>
          <p:cNvPr id="36" name="Segment card 2"/>
          <p:cNvSpPr/>
          <p:nvPr/>
        </p:nvSpPr>
        <p:spPr>
          <a:xfrm>
            <a:off x="4318000" y="3784600"/>
            <a:ext cx="3429000" cy="1841500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37" name="Segment card 2 tag"/>
          <p:cNvSpPr txBox="1"/>
          <p:nvPr/>
        </p:nvSpPr>
        <p:spPr>
          <a:xfrm>
            <a:off x="4483100" y="3898900"/>
            <a:ext cx="2413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SEGMENT · SECONDARY</a:t>
            </a:r>
          </a:p>
        </p:txBody>
      </p:sp>
      <p:sp>
        <p:nvSpPr>
          <p:cNvPr id="38" name="Segment card 2 mark"/>
          <p:cNvSpPr txBox="1"/>
          <p:nvPr/>
        </p:nvSpPr>
        <p:spPr>
          <a:xfrm>
            <a:off x="7048500" y="3886200"/>
            <a:ext cx="5715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3M</a:t>
            </a:r>
          </a:p>
        </p:txBody>
      </p:sp>
      <p:sp>
        <p:nvSpPr>
          <p:cNvPr id="39" name="Segment card 2 target"/>
          <p:cNvSpPr/>
          <p:nvPr/>
        </p:nvSpPr>
        <p:spPr>
          <a:xfrm>
            <a:off x="4483100" y="4178300"/>
            <a:ext cx="342900" cy="342900"/>
          </a:xfrm>
          <a:prstGeom prst="ellipse">
            <a:avLst/>
          </a:prstGeom>
          <a:noFill/>
          <a:ln w="285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40" name="Segment card 2 target"/>
          <p:cNvSpPr/>
          <p:nvPr/>
        </p:nvSpPr>
        <p:spPr>
          <a:xfrm>
            <a:off x="4568825" y="4264025"/>
            <a:ext cx="171450" cy="171450"/>
          </a:xfrm>
          <a:prstGeom prst="ellipse">
            <a:avLst/>
          </a:prstGeom>
          <a:noFill/>
          <a:ln w="285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41" name="Segment card 2 target"/>
          <p:cNvSpPr/>
          <p:nvPr/>
        </p:nvSpPr>
        <p:spPr>
          <a:xfrm>
            <a:off x="4627118" y="4322318"/>
            <a:ext cx="54864" cy="54864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Segment card 2 title"/>
          <p:cNvSpPr txBox="1"/>
          <p:nvPr/>
        </p:nvSpPr>
        <p:spPr>
          <a:xfrm>
            <a:off x="4940300" y="4152900"/>
            <a:ext cx="26670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Marketing-curious students</a:t>
            </a:r>
          </a:p>
        </p:txBody>
      </p:sp>
      <p:sp>
        <p:nvSpPr>
          <p:cNvPr id="43" name="Segment card 2 body"/>
          <p:cNvSpPr txBox="1"/>
          <p:nvPr/>
        </p:nvSpPr>
        <p:spPr>
          <a:xfrm>
            <a:off x="4483100" y="4648200"/>
            <a:ext cx="31369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Students from other streams who love marketing, and MBA aspirants who want a head start.</a:t>
            </a:r>
          </a:p>
        </p:txBody>
      </p:sp>
      <p:sp>
        <p:nvSpPr>
          <p:cNvPr id="44" name="Segment card 2 values"/>
          <p:cNvSpPr txBox="1"/>
          <p:nvPr/>
        </p:nvSpPr>
        <p:spPr>
          <a:xfrm>
            <a:off x="4483100" y="5346700"/>
            <a:ext cx="31369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Values: a fun, low-risk way in</a:t>
            </a:r>
          </a:p>
        </p:txBody>
      </p:sp>
      <p:sp>
        <p:nvSpPr>
          <p:cNvPr id="45" name="Label: THE INSIGHT"/>
          <p:cNvSpPr txBox="1"/>
          <p:nvPr/>
        </p:nvSpPr>
        <p:spPr>
          <a:xfrm>
            <a:off x="8026400" y="14605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THE INSIGHT</a:t>
            </a:r>
          </a:p>
        </p:txBody>
      </p:sp>
      <p:sp>
        <p:nvSpPr>
          <p:cNvPr id="46" name="Insight card (Market Event style)"/>
          <p:cNvSpPr/>
          <p:nvPr/>
        </p:nvSpPr>
        <p:spPr>
          <a:xfrm>
            <a:off x="8026400" y="1689100"/>
            <a:ext cx="3556000" cy="2095500"/>
          </a:xfrm>
          <a:prstGeom prst="roundRect">
            <a:avLst>
              <a:gd name="adj" fmla="val 5454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Insight tag"/>
          <p:cNvSpPr txBox="1"/>
          <p:nvPr/>
        </p:nvSpPr>
        <p:spPr>
          <a:xfrm>
            <a:off x="8191500" y="1803400"/>
            <a:ext cx="2413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INSIGHT · MARKET EVENT</a:t>
            </a:r>
          </a:p>
        </p:txBody>
      </p:sp>
      <p:sp>
        <p:nvSpPr>
          <p:cNvPr id="48" name="Insight mark"/>
          <p:cNvSpPr txBox="1"/>
          <p:nvPr/>
        </p:nvSpPr>
        <p:spPr>
          <a:xfrm>
            <a:off x="10795000" y="17907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3M</a:t>
            </a:r>
          </a:p>
        </p:txBody>
      </p:sp>
      <p:sp>
        <p:nvSpPr>
          <p:cNvPr id="49" name="Insight icon tile"/>
          <p:cNvSpPr/>
          <p:nvPr/>
        </p:nvSpPr>
        <p:spPr>
          <a:xfrm>
            <a:off x="8191500" y="2070100"/>
            <a:ext cx="406400" cy="406400"/>
          </a:xfrm>
          <a:prstGeom prst="roundRect">
            <a:avLst>
              <a:gd name="adj" fmla="val 15625"/>
            </a:avLst>
          </a:prstGeom>
          <a:solidFill>
            <a:srgbClr val="8E12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Insight icon"/>
          <p:cNvSpPr txBox="1"/>
          <p:nvPr/>
        </p:nvSpPr>
        <p:spPr>
          <a:xfrm>
            <a:off x="8191500" y="2070100"/>
            <a:ext cx="4064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!</a:t>
            </a:r>
          </a:p>
        </p:txBody>
      </p:sp>
      <p:sp>
        <p:nvSpPr>
          <p:cNvPr id="51" name="Insight text"/>
          <p:cNvSpPr txBox="1"/>
          <p:nvPr/>
        </p:nvSpPr>
        <p:spPr>
          <a:xfrm>
            <a:off x="8712200" y="2044700"/>
            <a:ext cx="2730500" cy="10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Business students want competitive, CV-worthy wins that prove they can actually do marketing. But most case competitions need a team, weeks of prep and a slide deck.</a:t>
            </a:r>
          </a:p>
        </p:txBody>
      </p:sp>
      <p:sp>
        <p:nvSpPr>
          <p:cNvPr id="52" name="Insight answer box"/>
          <p:cNvSpPr/>
          <p:nvPr/>
        </p:nvSpPr>
        <p:spPr>
          <a:xfrm>
            <a:off x="8191500" y="3175000"/>
            <a:ext cx="3225800" cy="469900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Insight answer"/>
          <p:cNvSpPr txBox="1"/>
          <p:nvPr/>
        </p:nvSpPr>
        <p:spPr>
          <a:xfrm>
            <a:off x="8293100" y="3175000"/>
            <a:ext cx="3048000" cy="469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3M: solo entry, 75 minutes, real cash.</a:t>
            </a:r>
          </a:p>
        </p:txBody>
      </p:sp>
      <p:sp>
        <p:nvSpPr>
          <p:cNvPr id="54" name="Label: WHY PAY ₹299"/>
          <p:cNvSpPr txBox="1"/>
          <p:nvPr/>
        </p:nvSpPr>
        <p:spPr>
          <a:xfrm>
            <a:off x="8026400" y="39497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WHY PAY ₹299</a:t>
            </a:r>
          </a:p>
        </p:txBody>
      </p:sp>
      <p:sp>
        <p:nvSpPr>
          <p:cNvPr id="55" name="Why pay list"/>
          <p:cNvSpPr txBox="1"/>
          <p:nvPr/>
        </p:nvSpPr>
        <p:spPr>
          <a:xfrm>
            <a:off x="8026400" y="4165600"/>
            <a:ext cx="3556000" cy="165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5100" indent="-165100">
              <a:lnSpc>
                <a:spcPct val="115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 guaranteed cash prize pool that grows with every player</a:t>
            </a:r>
          </a:p>
          <a:p>
            <a:pPr algn="l" marL="165100" indent="-165100">
              <a:lnSpc>
                <a:spcPct val="115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 participation certificate for everyone</a:t>
            </a:r>
          </a:p>
          <a:p>
            <a:pPr algn="l" marL="165100" indent="-165100">
              <a:lnSpc>
                <a:spcPct val="115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 merit certificate for every finalist</a:t>
            </a:r>
          </a:p>
          <a:p>
            <a:pPr algn="l" marL="165100" indent="-165100">
              <a:lnSpc>
                <a:spcPct val="115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Finals on the MICA campus</a:t>
            </a:r>
          </a:p>
          <a:p>
            <a:pPr algn="l" marL="165100" indent="-165100">
              <a:lnSpc>
                <a:spcPct val="115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 fun day out with other marketing students</a:t>
            </a:r>
          </a:p>
        </p:txBody>
      </p:sp>
      <p:sp>
        <p:nvSpPr>
          <p:cNvPr id="56" name="Contents strip"/>
          <p:cNvSpPr/>
          <p:nvPr/>
        </p:nvSpPr>
        <p:spPr>
          <a:xfrm>
            <a:off x="609600" y="5994400"/>
            <a:ext cx="10972800" cy="3302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57" name="Contents"/>
          <p:cNvSpPr txBox="1"/>
          <p:nvPr/>
        </p:nvSpPr>
        <p:spPr>
          <a:xfrm>
            <a:off x="736600" y="5994400"/>
            <a:ext cx="10795000" cy="330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IN THIS RULEBOOK   </a:t>
            </a:r>
            <a:r>
              <a:rPr sz="80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§3 What’s in the box · §4 How to play · §5 Tournament rules · §6 The map · §7 The bank · §8 Path to 500 · §9 Awareness · §10 Conversion · §11 Turn order · §12 Final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§ 03  ·  THE GAME · BOARD &amp; COMPONENTS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03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What’s in the box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PAGE 03 / 12</a:t>
            </a:r>
          </a:p>
        </p:txBody>
      </p:sp>
      <p:pic>
        <p:nvPicPr>
          <p:cNvPr id="14" name="Game board (top view)" descr="board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73200"/>
            <a:ext cx="4445000" cy="4445000"/>
          </a:xfrm>
          <a:prstGeom prst="rect">
            <a:avLst/>
          </a:prstGeom>
        </p:spPr>
      </p:pic>
      <p:pic>
        <p:nvPicPr>
          <p:cNvPr id="15" name="Pawn red" descr="paw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00" y="1193800"/>
            <a:ext cx="342900" cy="462915"/>
          </a:xfrm>
          <a:prstGeom prst="rect">
            <a:avLst/>
          </a:prstGeom>
        </p:spPr>
      </p:pic>
      <p:pic>
        <p:nvPicPr>
          <p:cNvPr id="16" name="Pawn white" descr="pa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1257300"/>
            <a:ext cx="304800" cy="411480"/>
          </a:xfrm>
          <a:prstGeom prst="rect">
            <a:avLst/>
          </a:prstGeom>
        </p:spPr>
      </p:pic>
      <p:sp>
        <p:nvSpPr>
          <p:cNvPr id="17" name="Callout 1"/>
          <p:cNvSpPr/>
          <p:nvPr/>
        </p:nvSpPr>
        <p:spPr>
          <a:xfrm>
            <a:off x="2062692" y="2126192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8" name="Callout 1 number"/>
          <p:cNvSpPr txBox="1"/>
          <p:nvPr/>
        </p:nvSpPr>
        <p:spPr>
          <a:xfrm>
            <a:off x="2062692" y="2126192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</a:t>
            </a:r>
          </a:p>
        </p:txBody>
      </p:sp>
      <p:sp>
        <p:nvSpPr>
          <p:cNvPr id="19" name="Callout 2"/>
          <p:cNvSpPr/>
          <p:nvPr/>
        </p:nvSpPr>
        <p:spPr>
          <a:xfrm>
            <a:off x="4114800" y="2852208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0" name="Callout 2 number"/>
          <p:cNvSpPr txBox="1"/>
          <p:nvPr/>
        </p:nvSpPr>
        <p:spPr>
          <a:xfrm>
            <a:off x="4114800" y="2852208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2</a:t>
            </a:r>
          </a:p>
        </p:txBody>
      </p:sp>
      <p:sp>
        <p:nvSpPr>
          <p:cNvPr id="21" name="Callout 3"/>
          <p:cNvSpPr/>
          <p:nvPr/>
        </p:nvSpPr>
        <p:spPr>
          <a:xfrm>
            <a:off x="1914525" y="4978400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2" name="Callout 3 number"/>
          <p:cNvSpPr txBox="1"/>
          <p:nvPr/>
        </p:nvSpPr>
        <p:spPr>
          <a:xfrm>
            <a:off x="1914525" y="49784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</a:t>
            </a:r>
          </a:p>
        </p:txBody>
      </p:sp>
      <p:sp>
        <p:nvSpPr>
          <p:cNvPr id="23" name="Callout 4"/>
          <p:cNvSpPr/>
          <p:nvPr/>
        </p:nvSpPr>
        <p:spPr>
          <a:xfrm>
            <a:off x="1270000" y="4400550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4" name="Callout 4 number"/>
          <p:cNvSpPr txBox="1"/>
          <p:nvPr/>
        </p:nvSpPr>
        <p:spPr>
          <a:xfrm>
            <a:off x="1270000" y="440055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4</a:t>
            </a:r>
          </a:p>
        </p:txBody>
      </p:sp>
      <p:sp>
        <p:nvSpPr>
          <p:cNvPr id="25" name="Callout 5"/>
          <p:cNvSpPr/>
          <p:nvPr/>
        </p:nvSpPr>
        <p:spPr>
          <a:xfrm>
            <a:off x="3729567" y="3718983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6" name="Callout 5 number"/>
          <p:cNvSpPr txBox="1"/>
          <p:nvPr/>
        </p:nvSpPr>
        <p:spPr>
          <a:xfrm>
            <a:off x="3729567" y="3718983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</a:t>
            </a:r>
          </a:p>
        </p:txBody>
      </p:sp>
      <p:sp>
        <p:nvSpPr>
          <p:cNvPr id="27" name="Callout 6"/>
          <p:cNvSpPr/>
          <p:nvPr/>
        </p:nvSpPr>
        <p:spPr>
          <a:xfrm>
            <a:off x="1714500" y="3718983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28" name="Callout 6 number"/>
          <p:cNvSpPr txBox="1"/>
          <p:nvPr/>
        </p:nvSpPr>
        <p:spPr>
          <a:xfrm>
            <a:off x="1714500" y="3718983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6</a:t>
            </a:r>
          </a:p>
        </p:txBody>
      </p:sp>
      <p:sp>
        <p:nvSpPr>
          <p:cNvPr id="29" name="Callout 7"/>
          <p:cNvSpPr/>
          <p:nvPr/>
        </p:nvSpPr>
        <p:spPr>
          <a:xfrm>
            <a:off x="2107142" y="1674283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0" name="Callout 7 number"/>
          <p:cNvSpPr txBox="1"/>
          <p:nvPr/>
        </p:nvSpPr>
        <p:spPr>
          <a:xfrm>
            <a:off x="2107142" y="1674283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31" name="Callout 7"/>
          <p:cNvSpPr/>
          <p:nvPr/>
        </p:nvSpPr>
        <p:spPr>
          <a:xfrm>
            <a:off x="4248150" y="5393267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2" name="Callout 7 number"/>
          <p:cNvSpPr txBox="1"/>
          <p:nvPr/>
        </p:nvSpPr>
        <p:spPr>
          <a:xfrm>
            <a:off x="4248150" y="5393267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33" name="Callout 8"/>
          <p:cNvSpPr/>
          <p:nvPr/>
        </p:nvSpPr>
        <p:spPr>
          <a:xfrm>
            <a:off x="1484842" y="1926167"/>
            <a:ext cx="279400" cy="279400"/>
          </a:xfrm>
          <a:prstGeom prst="ellipse">
            <a:avLst/>
          </a:prstGeom>
          <a:solidFill>
            <a:srgbClr val="B81C23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4" name="Callout 8 number"/>
          <p:cNvSpPr txBox="1"/>
          <p:nvPr/>
        </p:nvSpPr>
        <p:spPr>
          <a:xfrm>
            <a:off x="1484842" y="1926167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8</a:t>
            </a:r>
          </a:p>
        </p:txBody>
      </p:sp>
      <p:sp>
        <p:nvSpPr>
          <p:cNvPr id="35" name="Stat tile 1"/>
          <p:cNvSpPr/>
          <p:nvPr/>
        </p:nvSpPr>
        <p:spPr>
          <a:xfrm>
            <a:off x="5461000" y="1473200"/>
            <a:ext cx="1460500" cy="749300"/>
          </a:xfrm>
          <a:prstGeom prst="roundRect">
            <a:avLst>
              <a:gd name="adj" fmla="val 1016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36" name="Stat 1 value"/>
          <p:cNvSpPr txBox="1"/>
          <p:nvPr/>
        </p:nvSpPr>
        <p:spPr>
          <a:xfrm>
            <a:off x="5588000" y="15240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2–4</a:t>
            </a:r>
          </a:p>
        </p:txBody>
      </p:sp>
      <p:sp>
        <p:nvSpPr>
          <p:cNvPr id="37" name="Stat 1 label"/>
          <p:cNvSpPr txBox="1"/>
          <p:nvPr/>
        </p:nvSpPr>
        <p:spPr>
          <a:xfrm>
            <a:off x="5588000" y="19431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PLAYERS PER TABLE</a:t>
            </a:r>
          </a:p>
        </p:txBody>
      </p:sp>
      <p:sp>
        <p:nvSpPr>
          <p:cNvPr id="38" name="Stat tile 2"/>
          <p:cNvSpPr/>
          <p:nvPr/>
        </p:nvSpPr>
        <p:spPr>
          <a:xfrm>
            <a:off x="7023100" y="1473200"/>
            <a:ext cx="1460500" cy="749300"/>
          </a:xfrm>
          <a:prstGeom prst="roundRect">
            <a:avLst>
              <a:gd name="adj" fmla="val 1016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39" name="Stat 2 value"/>
          <p:cNvSpPr txBox="1"/>
          <p:nvPr/>
        </p:nvSpPr>
        <p:spPr>
          <a:xfrm>
            <a:off x="7150100" y="15240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75</a:t>
            </a:r>
          </a:p>
        </p:txBody>
      </p:sp>
      <p:sp>
        <p:nvSpPr>
          <p:cNvPr id="40" name="Stat 2 label"/>
          <p:cNvSpPr txBox="1"/>
          <p:nvPr/>
        </p:nvSpPr>
        <p:spPr>
          <a:xfrm>
            <a:off x="7150100" y="19431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MINUTES A GAME, MAX</a:t>
            </a:r>
          </a:p>
        </p:txBody>
      </p:sp>
      <p:sp>
        <p:nvSpPr>
          <p:cNvPr id="41" name="Stat tile 3"/>
          <p:cNvSpPr/>
          <p:nvPr/>
        </p:nvSpPr>
        <p:spPr>
          <a:xfrm>
            <a:off x="8585200" y="1473200"/>
            <a:ext cx="1460500" cy="749300"/>
          </a:xfrm>
          <a:prstGeom prst="roundRect">
            <a:avLst>
              <a:gd name="adj" fmla="val 1016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42" name="Stat 3 value"/>
          <p:cNvSpPr txBox="1"/>
          <p:nvPr/>
        </p:nvSpPr>
        <p:spPr>
          <a:xfrm>
            <a:off x="8712200" y="15240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6</a:t>
            </a:r>
          </a:p>
        </p:txBody>
      </p:sp>
      <p:sp>
        <p:nvSpPr>
          <p:cNvPr id="43" name="Stat 3 label"/>
          <p:cNvSpPr txBox="1"/>
          <p:nvPr/>
        </p:nvSpPr>
        <p:spPr>
          <a:xfrm>
            <a:off x="8712200" y="19431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QUARTERS A GAME</a:t>
            </a:r>
          </a:p>
        </p:txBody>
      </p:sp>
      <p:sp>
        <p:nvSpPr>
          <p:cNvPr id="44" name="Stat tile 4"/>
          <p:cNvSpPr/>
          <p:nvPr/>
        </p:nvSpPr>
        <p:spPr>
          <a:xfrm>
            <a:off x="10147300" y="1473200"/>
            <a:ext cx="1460500" cy="749300"/>
          </a:xfrm>
          <a:prstGeom prst="roundRect">
            <a:avLst>
              <a:gd name="adj" fmla="val 1016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45" name="Stat 4 value"/>
          <p:cNvSpPr txBox="1"/>
          <p:nvPr/>
        </p:nvSpPr>
        <p:spPr>
          <a:xfrm>
            <a:off x="10274300" y="15240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</a:t>
            </a:r>
          </a:p>
        </p:txBody>
      </p:sp>
      <p:sp>
        <p:nvSpPr>
          <p:cNvPr id="46" name="Stat 4 label"/>
          <p:cNvSpPr txBox="1"/>
          <p:nvPr/>
        </p:nvSpPr>
        <p:spPr>
          <a:xfrm>
            <a:off x="10274300" y="19431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i="0" spc="10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WINNER: TOP SHARE</a:t>
            </a:r>
          </a:p>
        </p:txBody>
      </p:sp>
      <p:sp>
        <p:nvSpPr>
          <p:cNvPr id="47" name="Label: THE BOARD · FOUR CAMPUS "/>
          <p:cNvSpPr txBox="1"/>
          <p:nvPr/>
        </p:nvSpPr>
        <p:spPr>
          <a:xfrm>
            <a:off x="5461000" y="2425700"/>
            <a:ext cx="381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THE BOARD · FOUR CAMPUS ZONES, ONE PER P</a:t>
            </a:r>
          </a:p>
        </p:txBody>
      </p:sp>
      <p:sp>
        <p:nvSpPr>
          <p:cNvPr id="48" name="Legend 1 badge"/>
          <p:cNvSpPr/>
          <p:nvPr/>
        </p:nvSpPr>
        <p:spPr>
          <a:xfrm>
            <a:off x="5461000" y="27051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Callout 1 number"/>
          <p:cNvSpPr txBox="1"/>
          <p:nvPr/>
        </p:nvSpPr>
        <p:spPr>
          <a:xfrm>
            <a:off x="5461000" y="2705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</a:t>
            </a:r>
          </a:p>
        </p:txBody>
      </p:sp>
      <p:sp>
        <p:nvSpPr>
          <p:cNvPr id="50" name="Legend 1 title"/>
          <p:cNvSpPr txBox="1"/>
          <p:nvPr/>
        </p:nvSpPr>
        <p:spPr>
          <a:xfrm>
            <a:off x="5816600" y="26797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Product Lab</a:t>
            </a:r>
          </a:p>
        </p:txBody>
      </p:sp>
      <p:sp>
        <p:nvSpPr>
          <p:cNvPr id="51" name="Legend 1 text"/>
          <p:cNvSpPr txBox="1"/>
          <p:nvPr/>
        </p:nvSpPr>
        <p:spPr>
          <a:xfrm>
            <a:off x="5816600" y="29083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Buy Product cards</a:t>
            </a:r>
          </a:p>
        </p:txBody>
      </p:sp>
      <p:sp>
        <p:nvSpPr>
          <p:cNvPr id="52" name="Legend 2 badge"/>
          <p:cNvSpPr/>
          <p:nvPr/>
        </p:nvSpPr>
        <p:spPr>
          <a:xfrm>
            <a:off x="5461000" y="33274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Callout 2 number"/>
          <p:cNvSpPr txBox="1"/>
          <p:nvPr/>
        </p:nvSpPr>
        <p:spPr>
          <a:xfrm>
            <a:off x="5461000" y="3327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2</a:t>
            </a:r>
          </a:p>
        </p:txBody>
      </p:sp>
      <p:sp>
        <p:nvSpPr>
          <p:cNvPr id="54" name="Legend 2 title"/>
          <p:cNvSpPr txBox="1"/>
          <p:nvPr/>
        </p:nvSpPr>
        <p:spPr>
          <a:xfrm>
            <a:off x="5816600" y="33020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Pricing Plaza</a:t>
            </a:r>
          </a:p>
        </p:txBody>
      </p:sp>
      <p:sp>
        <p:nvSpPr>
          <p:cNvPr id="55" name="Legend 2 text"/>
          <p:cNvSpPr txBox="1"/>
          <p:nvPr/>
        </p:nvSpPr>
        <p:spPr>
          <a:xfrm>
            <a:off x="5816600" y="35306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Buy Price cards</a:t>
            </a:r>
          </a:p>
        </p:txBody>
      </p:sp>
      <p:sp>
        <p:nvSpPr>
          <p:cNvPr id="56" name="Legend 3 badge"/>
          <p:cNvSpPr/>
          <p:nvPr/>
        </p:nvSpPr>
        <p:spPr>
          <a:xfrm>
            <a:off x="5461000" y="39497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Callout 3 number"/>
          <p:cNvSpPr txBox="1"/>
          <p:nvPr/>
        </p:nvSpPr>
        <p:spPr>
          <a:xfrm>
            <a:off x="5461000" y="3949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</a:t>
            </a:r>
          </a:p>
        </p:txBody>
      </p:sp>
      <p:sp>
        <p:nvSpPr>
          <p:cNvPr id="58" name="Legend 3 title"/>
          <p:cNvSpPr txBox="1"/>
          <p:nvPr/>
        </p:nvSpPr>
        <p:spPr>
          <a:xfrm>
            <a:off x="5816600" y="39243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Distribution Dock</a:t>
            </a:r>
          </a:p>
        </p:txBody>
      </p:sp>
      <p:sp>
        <p:nvSpPr>
          <p:cNvPr id="59" name="Legend 3 text"/>
          <p:cNvSpPr txBox="1"/>
          <p:nvPr/>
        </p:nvSpPr>
        <p:spPr>
          <a:xfrm>
            <a:off x="5816600" y="41529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Buy Place cards</a:t>
            </a:r>
          </a:p>
        </p:txBody>
      </p:sp>
      <p:sp>
        <p:nvSpPr>
          <p:cNvPr id="60" name="Legend 4 badge"/>
          <p:cNvSpPr/>
          <p:nvPr/>
        </p:nvSpPr>
        <p:spPr>
          <a:xfrm>
            <a:off x="5461000" y="45720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Callout 4 number"/>
          <p:cNvSpPr txBox="1"/>
          <p:nvPr/>
        </p:nvSpPr>
        <p:spPr>
          <a:xfrm>
            <a:off x="5461000" y="4572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4</a:t>
            </a:r>
          </a:p>
        </p:txBody>
      </p:sp>
      <p:sp>
        <p:nvSpPr>
          <p:cNvPr id="62" name="Legend 4 title"/>
          <p:cNvSpPr txBox="1"/>
          <p:nvPr/>
        </p:nvSpPr>
        <p:spPr>
          <a:xfrm>
            <a:off x="5816600" y="45466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Promotion Studio</a:t>
            </a:r>
          </a:p>
        </p:txBody>
      </p:sp>
      <p:sp>
        <p:nvSpPr>
          <p:cNvPr id="63" name="Legend 4 text"/>
          <p:cNvSpPr txBox="1"/>
          <p:nvPr/>
        </p:nvSpPr>
        <p:spPr>
          <a:xfrm>
            <a:off x="5816600" y="47752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Buy Promotion cards</a:t>
            </a:r>
          </a:p>
        </p:txBody>
      </p:sp>
      <p:sp>
        <p:nvSpPr>
          <p:cNvPr id="64" name="Legend 5 badge"/>
          <p:cNvSpPr/>
          <p:nvPr/>
        </p:nvSpPr>
        <p:spPr>
          <a:xfrm>
            <a:off x="8547100" y="27051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Callout 5 number"/>
          <p:cNvSpPr txBox="1"/>
          <p:nvPr/>
        </p:nvSpPr>
        <p:spPr>
          <a:xfrm>
            <a:off x="8547100" y="27051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</a:t>
            </a:r>
          </a:p>
        </p:txBody>
      </p:sp>
      <p:sp>
        <p:nvSpPr>
          <p:cNvPr id="66" name="Legend 5 title"/>
          <p:cNvSpPr txBox="1"/>
          <p:nvPr/>
        </p:nvSpPr>
        <p:spPr>
          <a:xfrm>
            <a:off x="8902700" y="26797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Segment cards</a:t>
            </a:r>
          </a:p>
        </p:txBody>
      </p:sp>
      <p:sp>
        <p:nvSpPr>
          <p:cNvPr id="67" name="Legend 5 text"/>
          <p:cNvSpPr txBox="1"/>
          <p:nvPr/>
        </p:nvSpPr>
        <p:spPr>
          <a:xfrm>
            <a:off x="8902700" y="29083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Each lists what a segment values on each of the 4Ps</a:t>
            </a:r>
          </a:p>
        </p:txBody>
      </p:sp>
      <p:sp>
        <p:nvSpPr>
          <p:cNvPr id="68" name="Legend 6 badge"/>
          <p:cNvSpPr/>
          <p:nvPr/>
        </p:nvSpPr>
        <p:spPr>
          <a:xfrm>
            <a:off x="8547100" y="33274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Callout 6 number"/>
          <p:cNvSpPr txBox="1"/>
          <p:nvPr/>
        </p:nvSpPr>
        <p:spPr>
          <a:xfrm>
            <a:off x="8547100" y="3327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6</a:t>
            </a:r>
          </a:p>
        </p:txBody>
      </p:sp>
      <p:sp>
        <p:nvSpPr>
          <p:cNvPr id="70" name="Legend 6 title"/>
          <p:cNvSpPr txBox="1"/>
          <p:nvPr/>
        </p:nvSpPr>
        <p:spPr>
          <a:xfrm>
            <a:off x="8902700" y="33020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Market Event deck</a:t>
            </a:r>
          </a:p>
        </p:txBody>
      </p:sp>
      <p:sp>
        <p:nvSpPr>
          <p:cNvPr id="71" name="Legend 6 text"/>
          <p:cNvSpPr txBox="1"/>
          <p:nvPr/>
        </p:nvSpPr>
        <p:spPr>
          <a:xfrm>
            <a:off x="8902700" y="35306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Trends and shocks that hit every brand</a:t>
            </a:r>
          </a:p>
        </p:txBody>
      </p:sp>
      <p:sp>
        <p:nvSpPr>
          <p:cNvPr id="72" name="Legend 7 badge"/>
          <p:cNvSpPr/>
          <p:nvPr/>
        </p:nvSpPr>
        <p:spPr>
          <a:xfrm>
            <a:off x="8547100" y="39497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Callout 7 number"/>
          <p:cNvSpPr txBox="1"/>
          <p:nvPr/>
        </p:nvSpPr>
        <p:spPr>
          <a:xfrm>
            <a:off x="8547100" y="3949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74" name="Legend 7 title"/>
          <p:cNvSpPr txBox="1"/>
          <p:nvPr/>
        </p:nvSpPr>
        <p:spPr>
          <a:xfrm>
            <a:off x="8902700" y="39243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? spaces &amp; Crisis corner</a:t>
            </a:r>
          </a:p>
        </p:txBody>
      </p:sp>
      <p:sp>
        <p:nvSpPr>
          <p:cNvPr id="75" name="Legend 7 text"/>
          <p:cNvSpPr txBox="1"/>
          <p:nvPr/>
        </p:nvSpPr>
        <p:spPr>
          <a:xfrm>
            <a:off x="8902700" y="41529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Where Market Event and Crisis cards come into play</a:t>
            </a:r>
          </a:p>
        </p:txBody>
      </p:sp>
      <p:sp>
        <p:nvSpPr>
          <p:cNvPr id="76" name="Legend 8 badge"/>
          <p:cNvSpPr/>
          <p:nvPr/>
        </p:nvSpPr>
        <p:spPr>
          <a:xfrm>
            <a:off x="8547100" y="4572000"/>
            <a:ext cx="254000" cy="2540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7" name="Callout 8 number"/>
          <p:cNvSpPr txBox="1"/>
          <p:nvPr/>
        </p:nvSpPr>
        <p:spPr>
          <a:xfrm>
            <a:off x="8547100" y="4572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8</a:t>
            </a:r>
          </a:p>
        </p:txBody>
      </p:sp>
      <p:sp>
        <p:nvSpPr>
          <p:cNvPr id="78" name="Legend 8 title"/>
          <p:cNvSpPr txBox="1"/>
          <p:nvPr/>
        </p:nvSpPr>
        <p:spPr>
          <a:xfrm>
            <a:off x="8902700" y="4546600"/>
            <a:ext cx="2603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1–3 Cr spaces</a:t>
            </a:r>
          </a:p>
        </p:txBody>
      </p:sp>
      <p:sp>
        <p:nvSpPr>
          <p:cNvPr id="79" name="Legend 8 text"/>
          <p:cNvSpPr txBox="1"/>
          <p:nvPr/>
        </p:nvSpPr>
        <p:spPr>
          <a:xfrm>
            <a:off x="8902700" y="4775200"/>
            <a:ext cx="2603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Mix cards cost money from the same fixed budget</a:t>
            </a:r>
          </a:p>
        </p:txBody>
      </p:sp>
      <p:sp>
        <p:nvSpPr>
          <p:cNvPr id="80" name="Components box"/>
          <p:cNvSpPr/>
          <p:nvPr/>
        </p:nvSpPr>
        <p:spPr>
          <a:xfrm>
            <a:off x="5461000" y="5270500"/>
            <a:ext cx="6121400" cy="889000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1" name="Components tab"/>
          <p:cNvSpPr/>
          <p:nvPr/>
        </p:nvSpPr>
        <p:spPr>
          <a:xfrm>
            <a:off x="5613400" y="5181600"/>
            <a:ext cx="1587500" cy="1905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2" name="Components tab text"/>
          <p:cNvSpPr txBox="1"/>
          <p:nvPr/>
        </p:nvSpPr>
        <p:spPr>
          <a:xfrm>
            <a:off x="5613400" y="5181600"/>
            <a:ext cx="1587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IN EACH TOURNAMENT SET</a:t>
            </a:r>
          </a:p>
        </p:txBody>
      </p:sp>
      <p:sp>
        <p:nvSpPr>
          <p:cNvPr id="83" name="Components list"/>
          <p:cNvSpPr txBox="1"/>
          <p:nvPr/>
        </p:nvSpPr>
        <p:spPr>
          <a:xfrm>
            <a:off x="5638800" y="5461000"/>
            <a:ext cx="57785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Laminated A2 board · Segment cards · 4P marketing-mix cards (Product, Price, Place, Promotion) · Market Event and Crisis cards · tokens and pawns · box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85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About ₹400 a set · 40 sets, reused across both qualifier weekends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04  ·  THE GAME · TURN SEQUENCE &amp; SCORING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04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How to play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04 / 12</a:t>
            </a:r>
          </a:p>
        </p:txBody>
      </p:sp>
      <p:sp>
        <p:nvSpPr>
          <p:cNvPr id="14" name="Step 1 die"/>
          <p:cNvSpPr/>
          <p:nvPr/>
        </p:nvSpPr>
        <p:spPr>
          <a:xfrm>
            <a:off x="609600" y="1498600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 w="18473">
            <a:solidFill>
              <a:srgbClr val="B81C23"/>
            </a:solidFill>
          </a:ln>
        </p:spPr>
        <p:txBody>
          <a:bodyPr rtlCol="0" anchor="ctr"/>
          <a:lstStyle/>
          <a:p/>
        </p:txBody>
      </p:sp>
      <p:sp>
        <p:nvSpPr>
          <p:cNvPr id="15" name="Step 1 die pip"/>
          <p:cNvSpPr/>
          <p:nvPr/>
        </p:nvSpPr>
        <p:spPr>
          <a:xfrm>
            <a:off x="772160" y="166116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Step 1 tag"/>
          <p:cNvSpPr txBox="1"/>
          <p:nvPr/>
        </p:nvSpPr>
        <p:spPr>
          <a:xfrm>
            <a:off x="1117600" y="1498600"/>
            <a:ext cx="88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STEP 1</a:t>
            </a:r>
          </a:p>
        </p:txBody>
      </p:sp>
      <p:sp>
        <p:nvSpPr>
          <p:cNvPr id="17" name="Arrow 1"/>
          <p:cNvSpPr txBox="1"/>
          <p:nvPr/>
        </p:nvSpPr>
        <p:spPr>
          <a:xfrm>
            <a:off x="2463800" y="1549400"/>
            <a:ext cx="31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18" name="Step 1 title"/>
          <p:cNvSpPr txBox="1"/>
          <p:nvPr/>
        </p:nvSpPr>
        <p:spPr>
          <a:xfrm>
            <a:off x="609600" y="2006600"/>
            <a:ext cx="20447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Pick your brand and segment</a:t>
            </a:r>
          </a:p>
        </p:txBody>
      </p:sp>
      <p:sp>
        <p:nvSpPr>
          <p:cNvPr id="19" name="Step 1 rule"/>
          <p:cNvSpPr txBox="1"/>
          <p:nvPr/>
        </p:nvSpPr>
        <p:spPr>
          <a:xfrm>
            <a:off x="609600" y="2527300"/>
            <a:ext cx="20447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Choose a brand, secretly pick a target segment card and write a one-line positioning statement.</a:t>
            </a:r>
          </a:p>
        </p:txBody>
      </p:sp>
      <p:sp>
        <p:nvSpPr>
          <p:cNvPr id="20" name="Step 1 example box"/>
          <p:cNvSpPr/>
          <p:nvPr/>
        </p:nvSpPr>
        <p:spPr>
          <a:xfrm>
            <a:off x="609600" y="3746500"/>
            <a:ext cx="2044700" cy="1358900"/>
          </a:xfrm>
          <a:prstGeom prst="roundRect">
            <a:avLst>
              <a:gd name="adj" fmla="val 6542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1" name="Step 1 example tab"/>
          <p:cNvSpPr/>
          <p:nvPr/>
        </p:nvSpPr>
        <p:spPr>
          <a:xfrm>
            <a:off x="723900" y="3657600"/>
            <a:ext cx="7112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Step 1 example tab text"/>
          <p:cNvSpPr txBox="1"/>
          <p:nvPr/>
        </p:nvSpPr>
        <p:spPr>
          <a:xfrm>
            <a:off x="723900" y="36576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EXAMPLE</a:t>
            </a:r>
          </a:p>
        </p:txBody>
      </p:sp>
      <p:sp>
        <p:nvSpPr>
          <p:cNvPr id="23" name="Step 1 example"/>
          <p:cNvSpPr txBox="1"/>
          <p:nvPr/>
        </p:nvSpPr>
        <p:spPr>
          <a:xfrm>
            <a:off x="736600" y="3924300"/>
            <a:ext cx="1790700" cy="1130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You pick D2C skincare and the Gen Z students segment. Positioning: “Clean skincare that fits a hostel budget.”</a:t>
            </a:r>
          </a:p>
        </p:txBody>
      </p:sp>
      <p:sp>
        <p:nvSpPr>
          <p:cNvPr id="24" name="Step 2 die"/>
          <p:cNvSpPr/>
          <p:nvPr/>
        </p:nvSpPr>
        <p:spPr>
          <a:xfrm>
            <a:off x="2794000" y="1498600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 w="18473">
            <a:solidFill>
              <a:srgbClr val="B81C23"/>
            </a:solidFill>
          </a:ln>
        </p:spPr>
        <p:txBody>
          <a:bodyPr rtlCol="0" anchor="ctr"/>
          <a:lstStyle/>
          <a:p/>
        </p:txBody>
      </p:sp>
      <p:sp>
        <p:nvSpPr>
          <p:cNvPr id="25" name="Step 2 die pip"/>
          <p:cNvSpPr/>
          <p:nvPr/>
        </p:nvSpPr>
        <p:spPr>
          <a:xfrm>
            <a:off x="2867152" y="1571752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Step 2 die pip"/>
          <p:cNvSpPr/>
          <p:nvPr/>
        </p:nvSpPr>
        <p:spPr>
          <a:xfrm>
            <a:off x="3045968" y="1750568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Step 2 tag"/>
          <p:cNvSpPr txBox="1"/>
          <p:nvPr/>
        </p:nvSpPr>
        <p:spPr>
          <a:xfrm>
            <a:off x="3302000" y="1498600"/>
            <a:ext cx="88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STEP 2</a:t>
            </a:r>
          </a:p>
        </p:txBody>
      </p:sp>
      <p:sp>
        <p:nvSpPr>
          <p:cNvPr id="28" name="Arrow 2"/>
          <p:cNvSpPr txBox="1"/>
          <p:nvPr/>
        </p:nvSpPr>
        <p:spPr>
          <a:xfrm>
            <a:off x="4648200" y="1549400"/>
            <a:ext cx="31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9" name="Step 2 title"/>
          <p:cNvSpPr txBox="1"/>
          <p:nvPr/>
        </p:nvSpPr>
        <p:spPr>
          <a:xfrm>
            <a:off x="2794000" y="2006600"/>
            <a:ext cx="20447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Build your 4P mix</a:t>
            </a:r>
          </a:p>
        </p:txBody>
      </p:sp>
      <p:sp>
        <p:nvSpPr>
          <p:cNvPr id="30" name="Step 2 rule"/>
          <p:cNvSpPr txBox="1"/>
          <p:nvPr/>
        </p:nvSpPr>
        <p:spPr>
          <a:xfrm>
            <a:off x="2794000" y="2527300"/>
            <a:ext cx="20447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Move around the four campus zones and buy marketing-mix cards from a fixed budget.</a:t>
            </a:r>
          </a:p>
        </p:txBody>
      </p:sp>
      <p:sp>
        <p:nvSpPr>
          <p:cNvPr id="31" name="Step 2 example box"/>
          <p:cNvSpPr/>
          <p:nvPr/>
        </p:nvSpPr>
        <p:spPr>
          <a:xfrm>
            <a:off x="2794000" y="3746500"/>
            <a:ext cx="2044700" cy="1358900"/>
          </a:xfrm>
          <a:prstGeom prst="roundRect">
            <a:avLst>
              <a:gd name="adj" fmla="val 6542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2" name="Step 2 example tab"/>
          <p:cNvSpPr/>
          <p:nvPr/>
        </p:nvSpPr>
        <p:spPr>
          <a:xfrm>
            <a:off x="2908300" y="3657600"/>
            <a:ext cx="7112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Step 2 example tab text"/>
          <p:cNvSpPr txBox="1"/>
          <p:nvPr/>
        </p:nvSpPr>
        <p:spPr>
          <a:xfrm>
            <a:off x="2908300" y="36576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EXAMPLE</a:t>
            </a:r>
          </a:p>
        </p:txBody>
      </p:sp>
      <p:sp>
        <p:nvSpPr>
          <p:cNvPr id="34" name="Step 2 example"/>
          <p:cNvSpPr txBox="1"/>
          <p:nvPr/>
        </p:nvSpPr>
        <p:spPr>
          <a:xfrm>
            <a:off x="2921000" y="3924300"/>
            <a:ext cx="1790700" cy="1130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Gen Z values low price and Instagram. A Value Pricing card and an Influencer card each earn +2 Fit Points.</a:t>
            </a:r>
          </a:p>
        </p:txBody>
      </p:sp>
      <p:sp>
        <p:nvSpPr>
          <p:cNvPr id="35" name="Step 3 die"/>
          <p:cNvSpPr/>
          <p:nvPr/>
        </p:nvSpPr>
        <p:spPr>
          <a:xfrm>
            <a:off x="4978400" y="1498600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 w="18473">
            <a:solidFill>
              <a:srgbClr val="B81C23"/>
            </a:solidFill>
          </a:ln>
        </p:spPr>
        <p:txBody>
          <a:bodyPr rtlCol="0" anchor="ctr"/>
          <a:lstStyle/>
          <a:p/>
        </p:txBody>
      </p:sp>
      <p:sp>
        <p:nvSpPr>
          <p:cNvPr id="36" name="Step 3 die pip"/>
          <p:cNvSpPr/>
          <p:nvPr/>
        </p:nvSpPr>
        <p:spPr>
          <a:xfrm>
            <a:off x="5051552" y="1571752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Step 3 die pip"/>
          <p:cNvSpPr/>
          <p:nvPr/>
        </p:nvSpPr>
        <p:spPr>
          <a:xfrm>
            <a:off x="5140960" y="1661160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Step 3 die pip"/>
          <p:cNvSpPr/>
          <p:nvPr/>
        </p:nvSpPr>
        <p:spPr>
          <a:xfrm>
            <a:off x="5230368" y="1750568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Step 3 tag"/>
          <p:cNvSpPr txBox="1"/>
          <p:nvPr/>
        </p:nvSpPr>
        <p:spPr>
          <a:xfrm>
            <a:off x="5486400" y="1498600"/>
            <a:ext cx="88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STEP 3</a:t>
            </a:r>
          </a:p>
        </p:txBody>
      </p:sp>
      <p:sp>
        <p:nvSpPr>
          <p:cNvPr id="40" name="Arrow 3"/>
          <p:cNvSpPr txBox="1"/>
          <p:nvPr/>
        </p:nvSpPr>
        <p:spPr>
          <a:xfrm>
            <a:off x="6832600" y="1549400"/>
            <a:ext cx="31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41" name="Step 3 title"/>
          <p:cNvSpPr txBox="1"/>
          <p:nvPr/>
        </p:nvSpPr>
        <p:spPr>
          <a:xfrm>
            <a:off x="4978400" y="2006600"/>
            <a:ext cx="20447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Survive the market</a:t>
            </a:r>
          </a:p>
        </p:txBody>
      </p:sp>
      <p:sp>
        <p:nvSpPr>
          <p:cNvPr id="42" name="Step 3 rule"/>
          <p:cNvSpPr txBox="1"/>
          <p:nvPr/>
        </p:nvSpPr>
        <p:spPr>
          <a:xfrm>
            <a:off x="4978400" y="2527300"/>
            <a:ext cx="20447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Market Event and Crisis cards hit every player. Adapt, or lose share.</a:t>
            </a:r>
          </a:p>
        </p:txBody>
      </p:sp>
      <p:sp>
        <p:nvSpPr>
          <p:cNvPr id="43" name="Step 3 example box"/>
          <p:cNvSpPr/>
          <p:nvPr/>
        </p:nvSpPr>
        <p:spPr>
          <a:xfrm>
            <a:off x="4978400" y="3746500"/>
            <a:ext cx="2044700" cy="1358900"/>
          </a:xfrm>
          <a:prstGeom prst="roundRect">
            <a:avLst>
              <a:gd name="adj" fmla="val 6542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44" name="Step 3 example tab"/>
          <p:cNvSpPr/>
          <p:nvPr/>
        </p:nvSpPr>
        <p:spPr>
          <a:xfrm>
            <a:off x="5092700" y="3657600"/>
            <a:ext cx="7112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Step 3 example tab text"/>
          <p:cNvSpPr txBox="1"/>
          <p:nvPr/>
        </p:nvSpPr>
        <p:spPr>
          <a:xfrm>
            <a:off x="5092700" y="36576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EXAMPLE</a:t>
            </a:r>
          </a:p>
        </p:txBody>
      </p:sp>
      <p:sp>
        <p:nvSpPr>
          <p:cNvPr id="46" name="Step 3 example"/>
          <p:cNvSpPr txBox="1"/>
          <p:nvPr/>
        </p:nvSpPr>
        <p:spPr>
          <a:xfrm>
            <a:off x="5105400" y="3924300"/>
            <a:ext cx="1790700" cy="1130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Crisis card: Influencer scandal. Spend ₹1 Cr on PR, or lose 1 Fit Point on every Promotion card.</a:t>
            </a:r>
          </a:p>
        </p:txBody>
      </p:sp>
      <p:sp>
        <p:nvSpPr>
          <p:cNvPr id="47" name="Step 4 die"/>
          <p:cNvSpPr/>
          <p:nvPr/>
        </p:nvSpPr>
        <p:spPr>
          <a:xfrm>
            <a:off x="7162800" y="1498600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 w="18473">
            <a:solidFill>
              <a:srgbClr val="B81C23"/>
            </a:solidFill>
          </a:ln>
        </p:spPr>
        <p:txBody>
          <a:bodyPr rtlCol="0" anchor="ctr"/>
          <a:lstStyle/>
          <a:p/>
        </p:txBody>
      </p:sp>
      <p:sp>
        <p:nvSpPr>
          <p:cNvPr id="48" name="Step 4 die pip"/>
          <p:cNvSpPr/>
          <p:nvPr/>
        </p:nvSpPr>
        <p:spPr>
          <a:xfrm>
            <a:off x="7235952" y="1571752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Step 4 die pip"/>
          <p:cNvSpPr/>
          <p:nvPr/>
        </p:nvSpPr>
        <p:spPr>
          <a:xfrm>
            <a:off x="7414768" y="1571752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0" name="Step 4 die pip"/>
          <p:cNvSpPr/>
          <p:nvPr/>
        </p:nvSpPr>
        <p:spPr>
          <a:xfrm>
            <a:off x="7235952" y="1750568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Step 4 die pip"/>
          <p:cNvSpPr/>
          <p:nvPr/>
        </p:nvSpPr>
        <p:spPr>
          <a:xfrm>
            <a:off x="7414768" y="1750568"/>
            <a:ext cx="81280" cy="81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Step 4 tag"/>
          <p:cNvSpPr txBox="1"/>
          <p:nvPr/>
        </p:nvSpPr>
        <p:spPr>
          <a:xfrm>
            <a:off x="7670800" y="1498600"/>
            <a:ext cx="8890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STEP 4</a:t>
            </a:r>
          </a:p>
        </p:txBody>
      </p:sp>
      <p:sp>
        <p:nvSpPr>
          <p:cNvPr id="53" name="Step 4 title"/>
          <p:cNvSpPr txBox="1"/>
          <p:nvPr/>
        </p:nvSpPr>
        <p:spPr>
          <a:xfrm>
            <a:off x="7162800" y="2006600"/>
            <a:ext cx="20447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Score Fit Points</a:t>
            </a:r>
          </a:p>
        </p:txBody>
      </p:sp>
      <p:sp>
        <p:nvSpPr>
          <p:cNvPr id="54" name="Step 4 rule"/>
          <p:cNvSpPr txBox="1"/>
          <p:nvPr/>
        </p:nvSpPr>
        <p:spPr>
          <a:xfrm>
            <a:off x="7162800" y="2527300"/>
            <a:ext cx="2044700" cy="111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Each quarter, every mix card that matches what your segment values earns Fit Points. Market share is split in proportion; chase a rival’s segment and you split it.</a:t>
            </a:r>
          </a:p>
        </p:txBody>
      </p:sp>
      <p:sp>
        <p:nvSpPr>
          <p:cNvPr id="55" name="Step 4 example box"/>
          <p:cNvSpPr/>
          <p:nvPr/>
        </p:nvSpPr>
        <p:spPr>
          <a:xfrm>
            <a:off x="7162800" y="3746500"/>
            <a:ext cx="2044700" cy="1358900"/>
          </a:xfrm>
          <a:prstGeom prst="roundRect">
            <a:avLst>
              <a:gd name="adj" fmla="val 6542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56" name="Step 4 example tab"/>
          <p:cNvSpPr/>
          <p:nvPr/>
        </p:nvSpPr>
        <p:spPr>
          <a:xfrm>
            <a:off x="7277100" y="3657600"/>
            <a:ext cx="7112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Step 4 example tab text"/>
          <p:cNvSpPr txBox="1"/>
          <p:nvPr/>
        </p:nvSpPr>
        <p:spPr>
          <a:xfrm>
            <a:off x="7277100" y="3657600"/>
            <a:ext cx="7112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EXAMPLE</a:t>
            </a:r>
          </a:p>
        </p:txBody>
      </p:sp>
      <p:sp>
        <p:nvSpPr>
          <p:cNvPr id="58" name="Step 4 example"/>
          <p:cNvSpPr txBox="1"/>
          <p:nvPr/>
        </p:nvSpPr>
        <p:spPr>
          <a:xfrm>
            <a:off x="7289800" y="3924300"/>
            <a:ext cx="1790700" cy="1130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You score 9 Fit Points, a rival in your segment scores 6. You take 60% of that segment’s share.</a:t>
            </a:r>
          </a:p>
        </p:txBody>
      </p:sp>
      <p:sp>
        <p:nvSpPr>
          <p:cNvPr id="59" name="How you win box"/>
          <p:cNvSpPr/>
          <p:nvPr/>
        </p:nvSpPr>
        <p:spPr>
          <a:xfrm>
            <a:off x="609600" y="5295900"/>
            <a:ext cx="2984500" cy="990600"/>
          </a:xfrm>
          <a:prstGeom prst="roundRect">
            <a:avLst>
              <a:gd name="adj" fmla="val 897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How you win label"/>
          <p:cNvSpPr txBox="1"/>
          <p:nvPr/>
        </p:nvSpPr>
        <p:spPr>
          <a:xfrm>
            <a:off x="787400" y="5410200"/>
            <a:ext cx="2667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HOW YOU WIN</a:t>
            </a:r>
          </a:p>
        </p:txBody>
      </p:sp>
      <p:sp>
        <p:nvSpPr>
          <p:cNvPr id="61" name="How you win"/>
          <p:cNvSpPr txBox="1"/>
          <p:nvPr/>
        </p:nvSpPr>
        <p:spPr>
          <a:xfrm>
            <a:off x="787400" y="5613400"/>
            <a:ext cx="2667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Highest total market share after 6 quarters.</a:t>
            </a:r>
          </a:p>
        </p:txBody>
      </p:sp>
      <p:sp>
        <p:nvSpPr>
          <p:cNvPr id="62" name="Label: WHAT IT TEACHES"/>
          <p:cNvSpPr txBox="1"/>
          <p:nvPr/>
        </p:nvSpPr>
        <p:spPr>
          <a:xfrm>
            <a:off x="3784600" y="53086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WHAT IT TEACHES</a:t>
            </a:r>
          </a:p>
        </p:txBody>
      </p:sp>
      <p:sp>
        <p:nvSpPr>
          <p:cNvPr id="63" name="Skill chip: STP"/>
          <p:cNvSpPr/>
          <p:nvPr/>
        </p:nvSpPr>
        <p:spPr>
          <a:xfrm>
            <a:off x="3784600" y="5549900"/>
            <a:ext cx="42926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64" name="Skill chip text: STP"/>
          <p:cNvSpPr txBox="1"/>
          <p:nvPr/>
        </p:nvSpPr>
        <p:spPr>
          <a:xfrm>
            <a:off x="3784600" y="5549900"/>
            <a:ext cx="42926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STP</a:t>
            </a:r>
          </a:p>
        </p:txBody>
      </p:sp>
      <p:sp>
        <p:nvSpPr>
          <p:cNvPr id="65" name="Skill chip: Positioning"/>
          <p:cNvSpPr/>
          <p:nvPr/>
        </p:nvSpPr>
        <p:spPr>
          <a:xfrm>
            <a:off x="4290060" y="5549900"/>
            <a:ext cx="99822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66" name="Skill chip text: Positioning"/>
          <p:cNvSpPr txBox="1"/>
          <p:nvPr/>
        </p:nvSpPr>
        <p:spPr>
          <a:xfrm>
            <a:off x="4290060" y="5549900"/>
            <a:ext cx="99822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Positioning</a:t>
            </a:r>
          </a:p>
        </p:txBody>
      </p:sp>
      <p:sp>
        <p:nvSpPr>
          <p:cNvPr id="67" name="Skill chip: The 4Ps"/>
          <p:cNvSpPr/>
          <p:nvPr/>
        </p:nvSpPr>
        <p:spPr>
          <a:xfrm>
            <a:off x="5364480" y="5549900"/>
            <a:ext cx="71374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68" name="Skill chip text: The 4Ps"/>
          <p:cNvSpPr txBox="1"/>
          <p:nvPr/>
        </p:nvSpPr>
        <p:spPr>
          <a:xfrm>
            <a:off x="5364480" y="5549900"/>
            <a:ext cx="7137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The 4Ps</a:t>
            </a:r>
          </a:p>
        </p:txBody>
      </p:sp>
      <p:sp>
        <p:nvSpPr>
          <p:cNvPr id="69" name="Skill chip: Consumer insight"/>
          <p:cNvSpPr/>
          <p:nvPr/>
        </p:nvSpPr>
        <p:spPr>
          <a:xfrm>
            <a:off x="6154420" y="5549900"/>
            <a:ext cx="135382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70" name="Skill chip text: Consumer insight"/>
          <p:cNvSpPr txBox="1"/>
          <p:nvPr/>
        </p:nvSpPr>
        <p:spPr>
          <a:xfrm>
            <a:off x="6154420" y="5549900"/>
            <a:ext cx="135382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Consumer insight</a:t>
            </a:r>
          </a:p>
        </p:txBody>
      </p:sp>
      <p:sp>
        <p:nvSpPr>
          <p:cNvPr id="71" name="Skill chip: Competitive response"/>
          <p:cNvSpPr/>
          <p:nvPr/>
        </p:nvSpPr>
        <p:spPr>
          <a:xfrm>
            <a:off x="3784600" y="5930900"/>
            <a:ext cx="163830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72" name="Skill chip text: Competitive response"/>
          <p:cNvSpPr txBox="1"/>
          <p:nvPr/>
        </p:nvSpPr>
        <p:spPr>
          <a:xfrm>
            <a:off x="3784600" y="5930900"/>
            <a:ext cx="163830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Competitive response</a:t>
            </a:r>
          </a:p>
        </p:txBody>
      </p:sp>
      <p:sp>
        <p:nvSpPr>
          <p:cNvPr id="73" name="Skill chip: Crisis &amp; PR"/>
          <p:cNvSpPr/>
          <p:nvPr/>
        </p:nvSpPr>
        <p:spPr>
          <a:xfrm>
            <a:off x="5499100" y="5930900"/>
            <a:ext cx="99822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74" name="Skill chip text: Crisis &amp; PR"/>
          <p:cNvSpPr txBox="1"/>
          <p:nvPr/>
        </p:nvSpPr>
        <p:spPr>
          <a:xfrm>
            <a:off x="5499100" y="5930900"/>
            <a:ext cx="99822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Crisis &amp; PR</a:t>
            </a:r>
          </a:p>
        </p:txBody>
      </p:sp>
      <p:sp>
        <p:nvSpPr>
          <p:cNvPr id="75" name="Skill chip: Budgeting for ROI"/>
          <p:cNvSpPr/>
          <p:nvPr/>
        </p:nvSpPr>
        <p:spPr>
          <a:xfrm>
            <a:off x="6573520" y="5930900"/>
            <a:ext cx="1424940" cy="292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76" name="Skill chip text: Budgeting for ROI"/>
          <p:cNvSpPr txBox="1"/>
          <p:nvPr/>
        </p:nvSpPr>
        <p:spPr>
          <a:xfrm>
            <a:off x="6573520" y="5930900"/>
            <a:ext cx="14249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Budgeting for ROI</a:t>
            </a:r>
          </a:p>
        </p:txBody>
      </p:sp>
      <p:pic>
        <p:nvPicPr>
          <p:cNvPr id="77" name="How-to-play video (1 min)" descr="video_poster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0" y="1498600"/>
            <a:ext cx="2133600" cy="2667000"/>
          </a:xfrm>
          <a:prstGeom prst="rect">
            <a:avLst/>
          </a:prstGeom>
        </p:spPr>
      </p:pic>
      <p:sp>
        <p:nvSpPr>
          <p:cNvPr id="78" name="Video caption bar"/>
          <p:cNvSpPr/>
          <p:nvPr/>
        </p:nvSpPr>
        <p:spPr>
          <a:xfrm>
            <a:off x="9448800" y="4216400"/>
            <a:ext cx="2133600" cy="2540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9" name="Video caption"/>
          <p:cNvSpPr txBox="1"/>
          <p:nvPr/>
        </p:nvSpPr>
        <p:spPr>
          <a:xfrm>
            <a:off x="9448800" y="4216400"/>
            <a:ext cx="2133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1-MIN HOW-TO-PLAY VIDEO</a:t>
            </a:r>
          </a:p>
        </p:txBody>
      </p:sp>
      <p:sp>
        <p:nvSpPr>
          <p:cNvPr id="80" name="Sample Segment card"/>
          <p:cNvSpPr/>
          <p:nvPr/>
        </p:nvSpPr>
        <p:spPr>
          <a:xfrm rot="21240000">
            <a:off x="9448800" y="4686300"/>
            <a:ext cx="1028700" cy="1498600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19050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81" name="Sample Segment tag"/>
          <p:cNvSpPr txBox="1"/>
          <p:nvPr/>
        </p:nvSpPr>
        <p:spPr>
          <a:xfrm rot="21240000">
            <a:off x="9537700" y="4775200"/>
            <a:ext cx="8509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 spc="10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SEGMENT</a:t>
            </a:r>
          </a:p>
        </p:txBody>
      </p:sp>
      <p:sp>
        <p:nvSpPr>
          <p:cNvPr id="82" name="Sample Segment icon"/>
          <p:cNvSpPr/>
          <p:nvPr/>
        </p:nvSpPr>
        <p:spPr>
          <a:xfrm>
            <a:off x="9563100" y="4965700"/>
            <a:ext cx="254000" cy="254000"/>
          </a:xfrm>
          <a:prstGeom prst="ellipse">
            <a:avLst/>
          </a:prstGeom>
          <a:noFill/>
          <a:ln w="21167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83" name="Sample Segment icon"/>
          <p:cNvSpPr/>
          <p:nvPr/>
        </p:nvSpPr>
        <p:spPr>
          <a:xfrm>
            <a:off x="9626600" y="5029200"/>
            <a:ext cx="127000" cy="127000"/>
          </a:xfrm>
          <a:prstGeom prst="ellipse">
            <a:avLst/>
          </a:prstGeom>
          <a:noFill/>
          <a:ln w="21167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84" name="Sample Segment icon"/>
          <p:cNvSpPr/>
          <p:nvPr/>
        </p:nvSpPr>
        <p:spPr>
          <a:xfrm>
            <a:off x="9669780" y="5072380"/>
            <a:ext cx="40640" cy="4064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5" name="Sample Segment title"/>
          <p:cNvSpPr txBox="1"/>
          <p:nvPr/>
        </p:nvSpPr>
        <p:spPr>
          <a:xfrm rot="21240000">
            <a:off x="9537700" y="5295900"/>
            <a:ext cx="86360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Gen Z students</a:t>
            </a:r>
          </a:p>
        </p:txBody>
      </p:sp>
      <p:sp>
        <p:nvSpPr>
          <p:cNvPr id="86" name="Sample Segment text"/>
          <p:cNvSpPr txBox="1"/>
          <p:nvPr/>
        </p:nvSpPr>
        <p:spPr>
          <a:xfrm rot="21240000">
            <a:off x="9537700" y="5664200"/>
            <a:ext cx="8636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Values: low price, Instagram, quick commerce.</a:t>
            </a:r>
          </a:p>
        </p:txBody>
      </p:sp>
      <p:sp>
        <p:nvSpPr>
          <p:cNvPr id="87" name="Sample Market Event card"/>
          <p:cNvSpPr/>
          <p:nvPr/>
        </p:nvSpPr>
        <p:spPr>
          <a:xfrm rot="360000">
            <a:off x="10566400" y="4635500"/>
            <a:ext cx="1003300" cy="1498600"/>
          </a:xfrm>
          <a:prstGeom prst="roundRect">
            <a:avLst>
              <a:gd name="adj" fmla="val 886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" name="Sample Event tag"/>
          <p:cNvSpPr txBox="1"/>
          <p:nvPr/>
        </p:nvSpPr>
        <p:spPr>
          <a:xfrm rot="360000">
            <a:off x="10655300" y="4724400"/>
            <a:ext cx="838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MARKET EVENT</a:t>
            </a:r>
          </a:p>
        </p:txBody>
      </p:sp>
      <p:sp>
        <p:nvSpPr>
          <p:cNvPr id="89" name="Sample Event icon"/>
          <p:cNvSpPr txBox="1"/>
          <p:nvPr/>
        </p:nvSpPr>
        <p:spPr>
          <a:xfrm rot="360000">
            <a:off x="10642600" y="4914900"/>
            <a:ext cx="838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!</a:t>
            </a:r>
          </a:p>
        </p:txBody>
      </p:sp>
      <p:sp>
        <p:nvSpPr>
          <p:cNvPr id="90" name="Sample Event title"/>
          <p:cNvSpPr txBox="1"/>
          <p:nvPr/>
        </p:nvSpPr>
        <p:spPr>
          <a:xfrm rot="360000">
            <a:off x="10629900" y="5245100"/>
            <a:ext cx="850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Trend alert</a:t>
            </a:r>
          </a:p>
        </p:txBody>
      </p:sp>
      <p:sp>
        <p:nvSpPr>
          <p:cNvPr id="91" name="Sample Event text"/>
          <p:cNvSpPr txBox="1"/>
          <p:nvPr/>
        </p:nvSpPr>
        <p:spPr>
          <a:xfrm rot="360000">
            <a:off x="10604500" y="5473700"/>
            <a:ext cx="8509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Instagram changes its algorithm. Brands without video lose 2% share.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05  ·  FORMAT · SCORING · WHY OFFLINE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05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Tournament rules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05 / 12</a:t>
            </a:r>
          </a:p>
        </p:txBody>
      </p:sp>
      <p:sp>
        <p:nvSpPr>
          <p:cNvPr id="14" name="Stage 1 space"/>
          <p:cNvSpPr/>
          <p:nvPr/>
        </p:nvSpPr>
        <p:spPr>
          <a:xfrm>
            <a:off x="609600" y="1473200"/>
            <a:ext cx="3429000" cy="12446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15" name="Stage 1 strip"/>
          <p:cNvSpPr/>
          <p:nvPr/>
        </p:nvSpPr>
        <p:spPr>
          <a:xfrm>
            <a:off x="609600" y="1473200"/>
            <a:ext cx="3429000" cy="25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Stage 1 dates"/>
          <p:cNvSpPr txBox="1"/>
          <p:nvPr/>
        </p:nvSpPr>
        <p:spPr>
          <a:xfrm>
            <a:off x="736600" y="14732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STAGE 1 · 26 OCT – 22 NOV</a:t>
            </a:r>
          </a:p>
        </p:txBody>
      </p:sp>
      <p:sp>
        <p:nvSpPr>
          <p:cNvPr id="17" name="Stage 1 title"/>
          <p:cNvSpPr txBox="1"/>
          <p:nvPr/>
        </p:nvSpPr>
        <p:spPr>
          <a:xfrm>
            <a:off x="736600" y="1803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Register</a:t>
            </a:r>
          </a:p>
        </p:txBody>
      </p:sp>
      <p:sp>
        <p:nvSpPr>
          <p:cNvPr id="18" name="Stage 1 text"/>
          <p:cNvSpPr txBox="1"/>
          <p:nvPr/>
        </p:nvSpPr>
        <p:spPr>
          <a:xfrm>
            <a:off x="736600" y="20828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Solo entry. Pick your city and a Saturday or Sunday slot. ₹299, or ₹249 as an early bird or a referred friend.</a:t>
            </a:r>
          </a:p>
        </p:txBody>
      </p:sp>
      <p:sp>
        <p:nvSpPr>
          <p:cNvPr id="19" name="Stage arrow 1"/>
          <p:cNvSpPr txBox="1"/>
          <p:nvPr/>
        </p:nvSpPr>
        <p:spPr>
          <a:xfrm>
            <a:off x="4051300" y="1905000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0" name="Stage 2 space"/>
          <p:cNvSpPr/>
          <p:nvPr/>
        </p:nvSpPr>
        <p:spPr>
          <a:xfrm>
            <a:off x="4381500" y="1473200"/>
            <a:ext cx="3429000" cy="12446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21" name="Stage 2 strip"/>
          <p:cNvSpPr/>
          <p:nvPr/>
        </p:nvSpPr>
        <p:spPr>
          <a:xfrm>
            <a:off x="4381500" y="1473200"/>
            <a:ext cx="3429000" cy="2540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Stage 2 dates"/>
          <p:cNvSpPr txBox="1"/>
          <p:nvPr/>
        </p:nvSpPr>
        <p:spPr>
          <a:xfrm>
            <a:off x="4508500" y="14732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STAGE 2 · 28 NOV – 6 DEC</a:t>
            </a:r>
          </a:p>
        </p:txBody>
      </p:sp>
      <p:sp>
        <p:nvSpPr>
          <p:cNvPr id="23" name="Stage 2 title"/>
          <p:cNvSpPr txBox="1"/>
          <p:nvPr/>
        </p:nvSpPr>
        <p:spPr>
          <a:xfrm>
            <a:off x="4508500" y="1803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City qualifiers</a:t>
            </a:r>
          </a:p>
        </p:txBody>
      </p:sp>
      <p:sp>
        <p:nvSpPr>
          <p:cNvPr id="24" name="Stage 2 text"/>
          <p:cNvSpPr txBox="1"/>
          <p:nvPr/>
        </p:nvSpPr>
        <p:spPr>
          <a:xfrm>
            <a:off x="4508500" y="20828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Five cities, at partner B-school campuses, hosted free by their marketing clubs. 16 finalist seats across the cities.</a:t>
            </a:r>
          </a:p>
        </p:txBody>
      </p:sp>
      <p:sp>
        <p:nvSpPr>
          <p:cNvPr id="25" name="Stage arrow 2"/>
          <p:cNvSpPr txBox="1"/>
          <p:nvPr/>
        </p:nvSpPr>
        <p:spPr>
          <a:xfrm>
            <a:off x="7823200" y="1905000"/>
            <a:ext cx="3175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6" name="Stage 3 space"/>
          <p:cNvSpPr/>
          <p:nvPr/>
        </p:nvSpPr>
        <p:spPr>
          <a:xfrm>
            <a:off x="8153400" y="1473200"/>
            <a:ext cx="3429000" cy="12446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27" name="Stage 3 strip"/>
          <p:cNvSpPr/>
          <p:nvPr/>
        </p:nvSpPr>
        <p:spPr>
          <a:xfrm>
            <a:off x="8153400" y="1473200"/>
            <a:ext cx="3429000" cy="254000"/>
          </a:xfrm>
          <a:prstGeom prst="rect">
            <a:avLst/>
          </a:prstGeom>
          <a:solidFill>
            <a:srgbClr val="8E12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Stage 3 dates"/>
          <p:cNvSpPr txBox="1"/>
          <p:nvPr/>
        </p:nvSpPr>
        <p:spPr>
          <a:xfrm>
            <a:off x="8280400" y="14732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STAGE 3 · SAT 12 DEC</a:t>
            </a:r>
          </a:p>
        </p:txBody>
      </p:sp>
      <p:sp>
        <p:nvSpPr>
          <p:cNvPr id="29" name="Stage 3 title"/>
          <p:cNvSpPr txBox="1"/>
          <p:nvPr/>
        </p:nvSpPr>
        <p:spPr>
          <a:xfrm>
            <a:off x="8280400" y="1803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Finals · MICA, Ahmedabad</a:t>
            </a:r>
          </a:p>
        </p:txBody>
      </p:sp>
      <p:sp>
        <p:nvSpPr>
          <p:cNvPr id="30" name="Stage 3 text"/>
          <p:cNvSpPr txBox="1"/>
          <p:nvPr/>
        </p:nvSpPr>
        <p:spPr>
          <a:xfrm>
            <a:off x="8280400" y="2082800"/>
            <a:ext cx="3175000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16 finalists, 3 rounds on 4 tables, then one final table of 4 decides the champion.</a:t>
            </a:r>
          </a:p>
        </p:txBody>
      </p:sp>
      <p:sp>
        <p:nvSpPr>
          <p:cNvPr id="31" name="Label: QUALIFIER DAY"/>
          <p:cNvSpPr txBox="1"/>
          <p:nvPr/>
        </p:nvSpPr>
        <p:spPr>
          <a:xfrm>
            <a:off x="609600" y="29210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QUALIFIER DAY</a:t>
            </a:r>
          </a:p>
        </p:txBody>
      </p:sp>
      <p:sp>
        <p:nvSpPr>
          <p:cNvPr id="32" name="Qualifier rules"/>
          <p:cNvSpPr txBox="1"/>
          <p:nvPr/>
        </p:nvSpPr>
        <p:spPr>
          <a:xfrm>
            <a:off x="609600" y="3136900"/>
            <a:ext cx="5080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65100" indent="-165100">
              <a:lnSpc>
                <a:spcPct val="118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Every player plays 3 rounds at 4-player tables (3-player tables when numbers don’t divide by 4).</a:t>
            </a:r>
          </a:p>
          <a:p>
            <a:pPr algn="l" marL="165100" indent="-165100">
              <a:lnSpc>
                <a:spcPct val="118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Round 1 seating is random; rounds 2 and 3 seat players on similar points together.</a:t>
            </a:r>
          </a:p>
          <a:p>
            <a:pPr algn="l" marL="165100" indent="-165100">
              <a:lnSpc>
                <a:spcPct val="118000"/>
              </a:lnSpc>
              <a:spcAft>
                <a:spcPts val="500"/>
              </a:spcAft>
              <a:buClr>
                <a:srgbClr val="B81C23"/>
              </a:buClr>
              <a:buFont typeface="Space Grotesk"/>
              <a:buChar char="•"/>
            </a:pP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Tiebreak: total market share across the 3 games.</a:t>
            </a:r>
          </a:p>
        </p:txBody>
      </p:sp>
      <p:sp>
        <p:nvSpPr>
          <p:cNvPr id="33" name="Label: PLACEMENT POINTS PER GAM"/>
          <p:cNvSpPr txBox="1"/>
          <p:nvPr/>
        </p:nvSpPr>
        <p:spPr>
          <a:xfrm>
            <a:off x="609600" y="4470400"/>
            <a:ext cx="482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PLACEMENT POINTS PER GAME</a:t>
            </a:r>
          </a:p>
        </p:txBody>
      </p:sp>
      <p:sp>
        <p:nvSpPr>
          <p:cNvPr id="34" name="Points tile 1st"/>
          <p:cNvSpPr/>
          <p:nvPr/>
        </p:nvSpPr>
        <p:spPr>
          <a:xfrm>
            <a:off x="609600" y="4699000"/>
            <a:ext cx="1155700" cy="5842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35" name="Points tile 1st place"/>
          <p:cNvSpPr txBox="1"/>
          <p:nvPr/>
        </p:nvSpPr>
        <p:spPr>
          <a:xfrm>
            <a:off x="723900" y="4699000"/>
            <a:ext cx="4445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1st</a:t>
            </a:r>
          </a:p>
        </p:txBody>
      </p:sp>
      <p:sp>
        <p:nvSpPr>
          <p:cNvPr id="36" name="Points tile 1st pts"/>
          <p:cNvSpPr txBox="1"/>
          <p:nvPr/>
        </p:nvSpPr>
        <p:spPr>
          <a:xfrm>
            <a:off x="1143000" y="4699000"/>
            <a:ext cx="5207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5</a:t>
            </a:r>
          </a:p>
        </p:txBody>
      </p:sp>
      <p:sp>
        <p:nvSpPr>
          <p:cNvPr id="37" name="Points tile 2nd"/>
          <p:cNvSpPr/>
          <p:nvPr/>
        </p:nvSpPr>
        <p:spPr>
          <a:xfrm>
            <a:off x="1854200" y="4699000"/>
            <a:ext cx="1155700" cy="5842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38" name="Points tile 2nd place"/>
          <p:cNvSpPr txBox="1"/>
          <p:nvPr/>
        </p:nvSpPr>
        <p:spPr>
          <a:xfrm>
            <a:off x="1968500" y="4699000"/>
            <a:ext cx="4445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2nd</a:t>
            </a:r>
          </a:p>
        </p:txBody>
      </p:sp>
      <p:sp>
        <p:nvSpPr>
          <p:cNvPr id="39" name="Points tile 2nd pts"/>
          <p:cNvSpPr txBox="1"/>
          <p:nvPr/>
        </p:nvSpPr>
        <p:spPr>
          <a:xfrm>
            <a:off x="2387600" y="4699000"/>
            <a:ext cx="5207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3</a:t>
            </a:r>
          </a:p>
        </p:txBody>
      </p:sp>
      <p:sp>
        <p:nvSpPr>
          <p:cNvPr id="40" name="Points tile 3rd"/>
          <p:cNvSpPr/>
          <p:nvPr/>
        </p:nvSpPr>
        <p:spPr>
          <a:xfrm>
            <a:off x="3098800" y="4699000"/>
            <a:ext cx="1155700" cy="5842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41" name="Points tile 3rd place"/>
          <p:cNvSpPr txBox="1"/>
          <p:nvPr/>
        </p:nvSpPr>
        <p:spPr>
          <a:xfrm>
            <a:off x="3213100" y="4699000"/>
            <a:ext cx="4445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3rd</a:t>
            </a:r>
          </a:p>
        </p:txBody>
      </p:sp>
      <p:sp>
        <p:nvSpPr>
          <p:cNvPr id="42" name="Points tile 3rd pts"/>
          <p:cNvSpPr txBox="1"/>
          <p:nvPr/>
        </p:nvSpPr>
        <p:spPr>
          <a:xfrm>
            <a:off x="3632200" y="4699000"/>
            <a:ext cx="5207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</a:t>
            </a:r>
          </a:p>
        </p:txBody>
      </p:sp>
      <p:sp>
        <p:nvSpPr>
          <p:cNvPr id="43" name="Points tile 4th"/>
          <p:cNvSpPr/>
          <p:nvPr/>
        </p:nvSpPr>
        <p:spPr>
          <a:xfrm>
            <a:off x="4343400" y="4699000"/>
            <a:ext cx="1155700" cy="5842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44" name="Points tile 4th place"/>
          <p:cNvSpPr txBox="1"/>
          <p:nvPr/>
        </p:nvSpPr>
        <p:spPr>
          <a:xfrm>
            <a:off x="4457700" y="4699000"/>
            <a:ext cx="4445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4th</a:t>
            </a:r>
          </a:p>
        </p:txBody>
      </p:sp>
      <p:sp>
        <p:nvSpPr>
          <p:cNvPr id="45" name="Points tile 4th pts"/>
          <p:cNvSpPr txBox="1"/>
          <p:nvPr/>
        </p:nvSpPr>
        <p:spPr>
          <a:xfrm>
            <a:off x="4876800" y="4699000"/>
            <a:ext cx="5207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26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</a:t>
            </a:r>
          </a:p>
        </p:txBody>
      </p:sp>
      <p:sp>
        <p:nvSpPr>
          <p:cNvPr id="46" name="Label: FINALS · 12 DEC"/>
          <p:cNvSpPr txBox="1"/>
          <p:nvPr/>
        </p:nvSpPr>
        <p:spPr>
          <a:xfrm>
            <a:off x="5842000" y="2921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FINALS · 12 DEC</a:t>
            </a:r>
          </a:p>
        </p:txBody>
      </p:sp>
      <p:sp>
        <p:nvSpPr>
          <p:cNvPr id="47" name="Finals rule"/>
          <p:cNvSpPr txBox="1"/>
          <p:nvPr/>
        </p:nvSpPr>
        <p:spPr>
          <a:xfrm>
            <a:off x="5842000" y="31369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16 players play 3 rounds on 4 tables, same points system. The top 4 then play one final table, which decides 1st to 4th.</a:t>
            </a:r>
          </a:p>
        </p:txBody>
      </p:sp>
      <p:sp>
        <p:nvSpPr>
          <p:cNvPr id="48" name="Final round table 1"/>
          <p:cNvSpPr/>
          <p:nvPr/>
        </p:nvSpPr>
        <p:spPr>
          <a:xfrm>
            <a:off x="5842000" y="4038600"/>
            <a:ext cx="952500" cy="2540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able 1 label"/>
          <p:cNvSpPr txBox="1"/>
          <p:nvPr/>
        </p:nvSpPr>
        <p:spPr>
          <a:xfrm>
            <a:off x="5842000" y="4038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TABLE 1 · 4</a:t>
            </a:r>
          </a:p>
        </p:txBody>
      </p:sp>
      <p:cxnSp>
        <p:nvCxnSpPr>
          <p:cNvPr id="50" name="Bracket line 1"/>
          <p:cNvCxnSpPr/>
          <p:nvPr/>
        </p:nvCxnSpPr>
        <p:spPr>
          <a:xfrm>
            <a:off x="6807200" y="4165600"/>
            <a:ext cx="495300" cy="381000"/>
          </a:xfrm>
          <a:prstGeom prst="line">
            <a:avLst/>
          </a:prstGeom>
          <a:ln w="15875">
            <a:solidFill>
              <a:srgbClr val="B81C23"/>
            </a:solidFill>
          </a:ln>
        </p:spPr>
      </p:cxnSp>
      <p:sp>
        <p:nvSpPr>
          <p:cNvPr id="51" name="Final round table 2"/>
          <p:cNvSpPr/>
          <p:nvPr/>
        </p:nvSpPr>
        <p:spPr>
          <a:xfrm>
            <a:off x="5842000" y="4356100"/>
            <a:ext cx="952500" cy="2540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able 2 label"/>
          <p:cNvSpPr txBox="1"/>
          <p:nvPr/>
        </p:nvSpPr>
        <p:spPr>
          <a:xfrm>
            <a:off x="5842000" y="43561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TABLE 2 · 4</a:t>
            </a:r>
          </a:p>
        </p:txBody>
      </p:sp>
      <p:cxnSp>
        <p:nvCxnSpPr>
          <p:cNvPr id="53" name="Bracket line 2"/>
          <p:cNvCxnSpPr/>
          <p:nvPr/>
        </p:nvCxnSpPr>
        <p:spPr>
          <a:xfrm>
            <a:off x="6807200" y="4483100"/>
            <a:ext cx="495300" cy="63500"/>
          </a:xfrm>
          <a:prstGeom prst="line">
            <a:avLst/>
          </a:prstGeom>
          <a:ln w="15875">
            <a:solidFill>
              <a:srgbClr val="B81C23"/>
            </a:solidFill>
          </a:ln>
        </p:spPr>
      </p:cxnSp>
      <p:sp>
        <p:nvSpPr>
          <p:cNvPr id="54" name="Final round table 3"/>
          <p:cNvSpPr/>
          <p:nvPr/>
        </p:nvSpPr>
        <p:spPr>
          <a:xfrm>
            <a:off x="5842000" y="4673600"/>
            <a:ext cx="952500" cy="2540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able 3 label"/>
          <p:cNvSpPr txBox="1"/>
          <p:nvPr/>
        </p:nvSpPr>
        <p:spPr>
          <a:xfrm>
            <a:off x="5842000" y="4673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TABLE 3 · 4</a:t>
            </a:r>
          </a:p>
        </p:txBody>
      </p:sp>
      <p:cxnSp>
        <p:nvCxnSpPr>
          <p:cNvPr id="56" name="Bracket line 3"/>
          <p:cNvCxnSpPr/>
          <p:nvPr/>
        </p:nvCxnSpPr>
        <p:spPr>
          <a:xfrm flipV="1">
            <a:off x="6807200" y="4546600"/>
            <a:ext cx="495300" cy="254000"/>
          </a:xfrm>
          <a:prstGeom prst="line">
            <a:avLst/>
          </a:prstGeom>
          <a:ln w="15875">
            <a:solidFill>
              <a:srgbClr val="B81C23"/>
            </a:solidFill>
          </a:ln>
        </p:spPr>
      </p:cxnSp>
      <p:sp>
        <p:nvSpPr>
          <p:cNvPr id="57" name="Final round table 4"/>
          <p:cNvSpPr/>
          <p:nvPr/>
        </p:nvSpPr>
        <p:spPr>
          <a:xfrm>
            <a:off x="5842000" y="4991100"/>
            <a:ext cx="952500" cy="254000"/>
          </a:xfrm>
          <a:prstGeom prst="roundRect">
            <a:avLst>
              <a:gd name="adj" fmla="val 20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able 4 label"/>
          <p:cNvSpPr txBox="1"/>
          <p:nvPr/>
        </p:nvSpPr>
        <p:spPr>
          <a:xfrm>
            <a:off x="5842000" y="49911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TABLE 4 · 4</a:t>
            </a:r>
          </a:p>
        </p:txBody>
      </p:sp>
      <p:cxnSp>
        <p:nvCxnSpPr>
          <p:cNvPr id="59" name="Bracket line 4"/>
          <p:cNvCxnSpPr/>
          <p:nvPr/>
        </p:nvCxnSpPr>
        <p:spPr>
          <a:xfrm flipV="1">
            <a:off x="6807200" y="4546600"/>
            <a:ext cx="495300" cy="571500"/>
          </a:xfrm>
          <a:prstGeom prst="line">
            <a:avLst/>
          </a:prstGeom>
          <a:ln w="15875">
            <a:solidFill>
              <a:srgbClr val="B81C23"/>
            </a:solidFill>
          </a:ln>
        </p:spPr>
      </p:cxnSp>
      <p:sp>
        <p:nvSpPr>
          <p:cNvPr id="60" name="Final table"/>
          <p:cNvSpPr/>
          <p:nvPr/>
        </p:nvSpPr>
        <p:spPr>
          <a:xfrm>
            <a:off x="7315200" y="4267200"/>
            <a:ext cx="1206500" cy="558800"/>
          </a:xfrm>
          <a:prstGeom prst="roundRect">
            <a:avLst>
              <a:gd name="adj" fmla="val 13636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Final table label"/>
          <p:cNvSpPr txBox="1"/>
          <p:nvPr/>
        </p:nvSpPr>
        <p:spPr>
          <a:xfrm>
            <a:off x="7315200" y="4267200"/>
            <a:ext cx="12065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FINAL TABLE</a:t>
            </a:r>
          </a:p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Top 4</a:t>
            </a:r>
          </a:p>
        </p:txBody>
      </p:sp>
      <p:sp>
        <p:nvSpPr>
          <p:cNvPr id="62" name="House rule box"/>
          <p:cNvSpPr/>
          <p:nvPr/>
        </p:nvSpPr>
        <p:spPr>
          <a:xfrm>
            <a:off x="8826500" y="2921000"/>
            <a:ext cx="2755900" cy="2362200"/>
          </a:xfrm>
          <a:prstGeom prst="roundRect">
            <a:avLst>
              <a:gd name="adj" fmla="val 3763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House rule label"/>
          <p:cNvSpPr txBox="1"/>
          <p:nvPr/>
        </p:nvSpPr>
        <p:spPr>
          <a:xfrm>
            <a:off x="8991600" y="3048000"/>
            <a:ext cx="24765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HOUSE RULE · WHY OFFLINE</a:t>
            </a:r>
          </a:p>
        </p:txBody>
      </p:sp>
      <p:sp>
        <p:nvSpPr>
          <p:cNvPr id="64" name="House rule title"/>
          <p:cNvSpPr txBox="1"/>
          <p:nvPr/>
        </p:nvSpPr>
        <p:spPr>
          <a:xfrm>
            <a:off x="8991600" y="3251200"/>
            <a:ext cx="2476500" cy="469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12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Fully offline. A game of skill at physical venues.</a:t>
            </a:r>
          </a:p>
        </p:txBody>
      </p:sp>
      <p:sp>
        <p:nvSpPr>
          <p:cNvPr id="65" name="House rule text"/>
          <p:cNvSpPr txBox="1"/>
          <p:nvPr/>
        </p:nvSpPr>
        <p:spPr>
          <a:xfrm>
            <a:off x="8991600" y="3771900"/>
            <a:ext cx="2476500" cy="146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The Promotion and Regulation of Online Gaming Act, 2025 came into force on 1 May 2026. It bans online money games and allows only recognised e-sports and online social games. A paid online tournament with cash prizes could be treated as an online money game; an offline one avoids that risk completely.</a:t>
            </a:r>
          </a:p>
        </p:txBody>
      </p:sp>
      <p:sp>
        <p:nvSpPr>
          <p:cNvPr id="66" name="Tip box"/>
          <p:cNvSpPr/>
          <p:nvPr/>
        </p:nvSpPr>
        <p:spPr>
          <a:xfrm>
            <a:off x="609600" y="5511800"/>
            <a:ext cx="10972800" cy="762000"/>
          </a:xfrm>
          <a:prstGeom prst="roundRect">
            <a:avLst>
              <a:gd name="adj" fmla="val 11666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67" name="Tip tab"/>
          <p:cNvSpPr/>
          <p:nvPr/>
        </p:nvSpPr>
        <p:spPr>
          <a:xfrm>
            <a:off x="762000" y="5422900"/>
            <a:ext cx="10795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Tip tab text"/>
          <p:cNvSpPr txBox="1"/>
          <p:nvPr/>
        </p:nvSpPr>
        <p:spPr>
          <a:xfrm>
            <a:off x="762000" y="5422900"/>
            <a:ext cx="10795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TIP · PRACTICE</a:t>
            </a:r>
          </a:p>
        </p:txBody>
      </p:sp>
      <p:sp>
        <p:nvSpPr>
          <p:cNvPr id="69" name="Tip die"/>
          <p:cNvSpPr/>
          <p:nvPr/>
        </p:nvSpPr>
        <p:spPr>
          <a:xfrm>
            <a:off x="774700" y="5689600"/>
            <a:ext cx="406400" cy="406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8473">
            <a:solidFill>
              <a:srgbClr val="B81C23"/>
            </a:solidFill>
          </a:ln>
        </p:spPr>
        <p:txBody>
          <a:bodyPr rtlCol="0" anchor="ctr"/>
          <a:lstStyle/>
          <a:p/>
        </p:txBody>
      </p:sp>
      <p:sp>
        <p:nvSpPr>
          <p:cNvPr id="70" name="Tip die pip"/>
          <p:cNvSpPr/>
          <p:nvPr/>
        </p:nvSpPr>
        <p:spPr>
          <a:xfrm>
            <a:off x="847852" y="5762752"/>
            <a:ext cx="81280" cy="8128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1" name="Tip die pip"/>
          <p:cNvSpPr/>
          <p:nvPr/>
        </p:nvSpPr>
        <p:spPr>
          <a:xfrm>
            <a:off x="937260" y="5852160"/>
            <a:ext cx="81280" cy="8128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2" name="Tip die pip"/>
          <p:cNvSpPr/>
          <p:nvPr/>
        </p:nvSpPr>
        <p:spPr>
          <a:xfrm>
            <a:off x="1026668" y="5941568"/>
            <a:ext cx="81280" cy="8128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Tip text"/>
          <p:cNvSpPr txBox="1"/>
          <p:nvPr/>
        </p:nvSpPr>
        <p:spPr>
          <a:xfrm>
            <a:off x="1346200" y="5638800"/>
            <a:ext cx="100965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Free practice keeps players coming back and arriving ready: </a:t>
            </a: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 free print-and-play PDF of the game, a 1-min how-to-play video, and free practice nights at partner clubs in November. All three double as marketing hooks.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06  ·  QUALIFIER CITIES · SEATS · LOGISTICS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06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The map: cities &amp; seats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06 / 12</a:t>
            </a:r>
          </a:p>
        </p:txBody>
      </p:sp>
      <p:sp>
        <p:nvSpPr>
          <p:cNvPr id="14" name="Weekend 1 label"/>
          <p:cNvSpPr txBox="1"/>
          <p:nvPr/>
        </p:nvSpPr>
        <p:spPr>
          <a:xfrm>
            <a:off x="609600" y="1435100"/>
            <a:ext cx="35814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70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WEEKEND 1 · SAT–SUN 28–29 NOV</a:t>
            </a:r>
          </a:p>
        </p:txBody>
      </p:sp>
      <p:cxnSp>
        <p:nvCxnSpPr>
          <p:cNvPr id="15" name="Weekend 1 bracket"/>
          <p:cNvCxnSpPr/>
          <p:nvPr/>
        </p:nvCxnSpPr>
        <p:spPr>
          <a:xfrm>
            <a:off x="609600" y="1638300"/>
            <a:ext cx="3581400" cy="0"/>
          </a:xfrm>
          <a:prstGeom prst="line">
            <a:avLst/>
          </a:prstGeom>
          <a:ln w="19050">
            <a:solidFill>
              <a:srgbClr val="B81C23"/>
            </a:solidFill>
          </a:ln>
        </p:spPr>
      </p:cxnSp>
      <p:sp>
        <p:nvSpPr>
          <p:cNvPr id="16" name="Weekend 2 label"/>
          <p:cNvSpPr txBox="1"/>
          <p:nvPr/>
        </p:nvSpPr>
        <p:spPr>
          <a:xfrm>
            <a:off x="4292600" y="1435100"/>
            <a:ext cx="54229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70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WEEKEND 2 · SAT–SUN 5–6 DEC</a:t>
            </a:r>
          </a:p>
        </p:txBody>
      </p:sp>
      <p:cxnSp>
        <p:nvCxnSpPr>
          <p:cNvPr id="17" name="Weekend 2 bracket"/>
          <p:cNvCxnSpPr/>
          <p:nvPr/>
        </p:nvCxnSpPr>
        <p:spPr>
          <a:xfrm>
            <a:off x="4292600" y="1638300"/>
            <a:ext cx="5422900" cy="0"/>
          </a:xfrm>
          <a:prstGeom prst="line">
            <a:avLst/>
          </a:prstGeom>
          <a:ln w="19050">
            <a:solidFill>
              <a:srgbClr val="B81C23"/>
            </a:solidFill>
          </a:ln>
        </p:spPr>
      </p:cxnSp>
      <p:sp>
        <p:nvSpPr>
          <p:cNvPr id="18" name="City space: Ahmedabad"/>
          <p:cNvSpPr/>
          <p:nvPr/>
        </p:nvSpPr>
        <p:spPr>
          <a:xfrm>
            <a:off x="609600" y="1727200"/>
            <a:ext cx="1739900" cy="251460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19" name="City strip: Ahmedabad"/>
          <p:cNvSpPr/>
          <p:nvPr/>
        </p:nvSpPr>
        <p:spPr>
          <a:xfrm>
            <a:off x="609600" y="1727200"/>
            <a:ext cx="1739900" cy="1143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Ahmedabad name"/>
          <p:cNvSpPr txBox="1"/>
          <p:nvPr/>
        </p:nvSpPr>
        <p:spPr>
          <a:xfrm>
            <a:off x="736600" y="19304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Ahmedabad</a:t>
            </a:r>
          </a:p>
        </p:txBody>
      </p:sp>
      <p:sp>
        <p:nvSpPr>
          <p:cNvPr id="21" name="Ahmedabad dates"/>
          <p:cNvSpPr txBox="1"/>
          <p:nvPr/>
        </p:nvSpPr>
        <p:spPr>
          <a:xfrm>
            <a:off x="736600" y="21971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28–29 NOV</a:t>
            </a:r>
          </a:p>
        </p:txBody>
      </p:sp>
      <p:sp>
        <p:nvSpPr>
          <p:cNvPr id="22" name="Ahmedabad players"/>
          <p:cNvSpPr txBox="1"/>
          <p:nvPr/>
        </p:nvSpPr>
        <p:spPr>
          <a:xfrm>
            <a:off x="736600" y="2413000"/>
            <a:ext cx="14859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140</a:t>
            </a:r>
          </a:p>
        </p:txBody>
      </p:sp>
      <p:sp>
        <p:nvSpPr>
          <p:cNvPr id="23" name="Ahmedabad players label"/>
          <p:cNvSpPr txBox="1"/>
          <p:nvPr/>
        </p:nvSpPr>
        <p:spPr>
          <a:xfrm>
            <a:off x="736600" y="28956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players expected</a:t>
            </a:r>
          </a:p>
        </p:txBody>
      </p:sp>
      <p:cxnSp>
        <p:nvCxnSpPr>
          <p:cNvPr id="24" name="Ahmedabad divider"/>
          <p:cNvCxnSpPr/>
          <p:nvPr/>
        </p:nvCxnSpPr>
        <p:spPr>
          <a:xfrm>
            <a:off x="736600" y="3149600"/>
            <a:ext cx="14859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sp>
        <p:nvSpPr>
          <p:cNvPr id="25" name="Ahmedabad details"/>
          <p:cNvSpPr txBox="1"/>
          <p:nvPr/>
        </p:nvSpPr>
        <p:spPr>
          <a:xfrm>
            <a:off x="736600" y="3251200"/>
            <a:ext cx="14859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Tables per day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18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Finalist seats  </a:t>
            </a:r>
            <a:r>
              <a:rPr sz="95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Ambassador colleges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10</a:t>
            </a:r>
          </a:p>
        </p:txBody>
      </p:sp>
      <p:sp>
        <p:nvSpPr>
          <p:cNvPr id="26" name="City space: Delhi"/>
          <p:cNvSpPr/>
          <p:nvPr/>
        </p:nvSpPr>
        <p:spPr>
          <a:xfrm>
            <a:off x="2451100" y="1727200"/>
            <a:ext cx="1739900" cy="251460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27" name="City strip: Delhi"/>
          <p:cNvSpPr/>
          <p:nvPr/>
        </p:nvSpPr>
        <p:spPr>
          <a:xfrm>
            <a:off x="2451100" y="1727200"/>
            <a:ext cx="1739900" cy="1143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Delhi name"/>
          <p:cNvSpPr txBox="1"/>
          <p:nvPr/>
        </p:nvSpPr>
        <p:spPr>
          <a:xfrm>
            <a:off x="2578100" y="19304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Delhi</a:t>
            </a:r>
          </a:p>
        </p:txBody>
      </p:sp>
      <p:sp>
        <p:nvSpPr>
          <p:cNvPr id="29" name="Delhi dates"/>
          <p:cNvSpPr txBox="1"/>
          <p:nvPr/>
        </p:nvSpPr>
        <p:spPr>
          <a:xfrm>
            <a:off x="2578100" y="21971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28–29 NOV</a:t>
            </a:r>
          </a:p>
        </p:txBody>
      </p:sp>
      <p:sp>
        <p:nvSpPr>
          <p:cNvPr id="30" name="Delhi players"/>
          <p:cNvSpPr txBox="1"/>
          <p:nvPr/>
        </p:nvSpPr>
        <p:spPr>
          <a:xfrm>
            <a:off x="2578100" y="2413000"/>
            <a:ext cx="14859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90</a:t>
            </a:r>
          </a:p>
        </p:txBody>
      </p:sp>
      <p:sp>
        <p:nvSpPr>
          <p:cNvPr id="31" name="Delhi players label"/>
          <p:cNvSpPr txBox="1"/>
          <p:nvPr/>
        </p:nvSpPr>
        <p:spPr>
          <a:xfrm>
            <a:off x="2578100" y="28956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players expected</a:t>
            </a:r>
          </a:p>
        </p:txBody>
      </p:sp>
      <p:cxnSp>
        <p:nvCxnSpPr>
          <p:cNvPr id="32" name="Delhi divider"/>
          <p:cNvCxnSpPr/>
          <p:nvPr/>
        </p:nvCxnSpPr>
        <p:spPr>
          <a:xfrm>
            <a:off x="2578100" y="3149600"/>
            <a:ext cx="14859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sp>
        <p:nvSpPr>
          <p:cNvPr id="33" name="Delhi details"/>
          <p:cNvSpPr txBox="1"/>
          <p:nvPr/>
        </p:nvSpPr>
        <p:spPr>
          <a:xfrm>
            <a:off x="2578100" y="3251200"/>
            <a:ext cx="14859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Tables per day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Finalist seats  </a:t>
            </a:r>
            <a:r>
              <a:rPr sz="95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Ambassador colleges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34" name="City space: Mumbai"/>
          <p:cNvSpPr/>
          <p:nvPr/>
        </p:nvSpPr>
        <p:spPr>
          <a:xfrm>
            <a:off x="4292600" y="1727200"/>
            <a:ext cx="1739900" cy="251460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35" name="City strip: Mumbai"/>
          <p:cNvSpPr/>
          <p:nvPr/>
        </p:nvSpPr>
        <p:spPr>
          <a:xfrm>
            <a:off x="4292600" y="1727200"/>
            <a:ext cx="1739900" cy="1143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Mumbai name"/>
          <p:cNvSpPr txBox="1"/>
          <p:nvPr/>
        </p:nvSpPr>
        <p:spPr>
          <a:xfrm>
            <a:off x="4419600" y="19304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Mumbai</a:t>
            </a:r>
          </a:p>
        </p:txBody>
      </p:sp>
      <p:sp>
        <p:nvSpPr>
          <p:cNvPr id="37" name="Mumbai dates"/>
          <p:cNvSpPr txBox="1"/>
          <p:nvPr/>
        </p:nvSpPr>
        <p:spPr>
          <a:xfrm>
            <a:off x="4419600" y="21971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5–6 DEC</a:t>
            </a:r>
          </a:p>
        </p:txBody>
      </p:sp>
      <p:sp>
        <p:nvSpPr>
          <p:cNvPr id="38" name="Mumbai players"/>
          <p:cNvSpPr txBox="1"/>
          <p:nvPr/>
        </p:nvSpPr>
        <p:spPr>
          <a:xfrm>
            <a:off x="4419600" y="2413000"/>
            <a:ext cx="14859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110</a:t>
            </a:r>
          </a:p>
        </p:txBody>
      </p:sp>
      <p:sp>
        <p:nvSpPr>
          <p:cNvPr id="39" name="Mumbai players label"/>
          <p:cNvSpPr txBox="1"/>
          <p:nvPr/>
        </p:nvSpPr>
        <p:spPr>
          <a:xfrm>
            <a:off x="4419600" y="28956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players expected</a:t>
            </a:r>
          </a:p>
        </p:txBody>
      </p:sp>
      <p:cxnSp>
        <p:nvCxnSpPr>
          <p:cNvPr id="40" name="Mumbai divider"/>
          <p:cNvCxnSpPr/>
          <p:nvPr/>
        </p:nvCxnSpPr>
        <p:spPr>
          <a:xfrm>
            <a:off x="4419600" y="3149600"/>
            <a:ext cx="14859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sp>
        <p:nvSpPr>
          <p:cNvPr id="41" name="Mumbai details"/>
          <p:cNvSpPr txBox="1"/>
          <p:nvPr/>
        </p:nvSpPr>
        <p:spPr>
          <a:xfrm>
            <a:off x="4419600" y="3251200"/>
            <a:ext cx="14859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Tables per day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Finalist seats  </a:t>
            </a:r>
            <a:r>
              <a:rPr sz="95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4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Ambassador colleges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9</a:t>
            </a:r>
          </a:p>
        </p:txBody>
      </p:sp>
      <p:sp>
        <p:nvSpPr>
          <p:cNvPr id="42" name="City space: Bengaluru"/>
          <p:cNvSpPr/>
          <p:nvPr/>
        </p:nvSpPr>
        <p:spPr>
          <a:xfrm>
            <a:off x="6134100" y="1727200"/>
            <a:ext cx="1739900" cy="251460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43" name="City strip: Bengaluru"/>
          <p:cNvSpPr/>
          <p:nvPr/>
        </p:nvSpPr>
        <p:spPr>
          <a:xfrm>
            <a:off x="6134100" y="1727200"/>
            <a:ext cx="1739900" cy="1143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Bengaluru name"/>
          <p:cNvSpPr txBox="1"/>
          <p:nvPr/>
        </p:nvSpPr>
        <p:spPr>
          <a:xfrm>
            <a:off x="6261100" y="19304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Bengaluru</a:t>
            </a:r>
          </a:p>
        </p:txBody>
      </p:sp>
      <p:sp>
        <p:nvSpPr>
          <p:cNvPr id="45" name="Bengaluru dates"/>
          <p:cNvSpPr txBox="1"/>
          <p:nvPr/>
        </p:nvSpPr>
        <p:spPr>
          <a:xfrm>
            <a:off x="6261100" y="21971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5–6 DEC</a:t>
            </a:r>
          </a:p>
        </p:txBody>
      </p:sp>
      <p:sp>
        <p:nvSpPr>
          <p:cNvPr id="46" name="Bengaluru players"/>
          <p:cNvSpPr txBox="1"/>
          <p:nvPr/>
        </p:nvSpPr>
        <p:spPr>
          <a:xfrm>
            <a:off x="6261100" y="2413000"/>
            <a:ext cx="14859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90</a:t>
            </a:r>
          </a:p>
        </p:txBody>
      </p:sp>
      <p:sp>
        <p:nvSpPr>
          <p:cNvPr id="47" name="Bengaluru players label"/>
          <p:cNvSpPr txBox="1"/>
          <p:nvPr/>
        </p:nvSpPr>
        <p:spPr>
          <a:xfrm>
            <a:off x="6261100" y="28956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players expected</a:t>
            </a:r>
          </a:p>
        </p:txBody>
      </p:sp>
      <p:cxnSp>
        <p:nvCxnSpPr>
          <p:cNvPr id="48" name="Bengaluru divider"/>
          <p:cNvCxnSpPr/>
          <p:nvPr/>
        </p:nvCxnSpPr>
        <p:spPr>
          <a:xfrm>
            <a:off x="6261100" y="3149600"/>
            <a:ext cx="14859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sp>
        <p:nvSpPr>
          <p:cNvPr id="49" name="Bengaluru details"/>
          <p:cNvSpPr txBox="1"/>
          <p:nvPr/>
        </p:nvSpPr>
        <p:spPr>
          <a:xfrm>
            <a:off x="6261100" y="3251200"/>
            <a:ext cx="14859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Tables per day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Finalist seats  </a:t>
            </a:r>
            <a:r>
              <a:rPr sz="95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3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Ambassador colleges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50" name="City space: Pune"/>
          <p:cNvSpPr/>
          <p:nvPr/>
        </p:nvSpPr>
        <p:spPr>
          <a:xfrm>
            <a:off x="7975600" y="1727200"/>
            <a:ext cx="1739900" cy="251460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51" name="City strip: Pune"/>
          <p:cNvSpPr/>
          <p:nvPr/>
        </p:nvSpPr>
        <p:spPr>
          <a:xfrm>
            <a:off x="7975600" y="1727200"/>
            <a:ext cx="1739900" cy="1143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Pune name"/>
          <p:cNvSpPr txBox="1"/>
          <p:nvPr/>
        </p:nvSpPr>
        <p:spPr>
          <a:xfrm>
            <a:off x="8102600" y="1930400"/>
            <a:ext cx="14859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Pune</a:t>
            </a:r>
          </a:p>
        </p:txBody>
      </p:sp>
      <p:sp>
        <p:nvSpPr>
          <p:cNvPr id="53" name="Pune dates"/>
          <p:cNvSpPr txBox="1"/>
          <p:nvPr/>
        </p:nvSpPr>
        <p:spPr>
          <a:xfrm>
            <a:off x="8102600" y="21971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0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5–6 DEC</a:t>
            </a:r>
          </a:p>
        </p:txBody>
      </p:sp>
      <p:sp>
        <p:nvSpPr>
          <p:cNvPr id="54" name="Pune players"/>
          <p:cNvSpPr txBox="1"/>
          <p:nvPr/>
        </p:nvSpPr>
        <p:spPr>
          <a:xfrm>
            <a:off x="8102600" y="2413000"/>
            <a:ext cx="1485900" cy="495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74</a:t>
            </a:r>
          </a:p>
        </p:txBody>
      </p:sp>
      <p:sp>
        <p:nvSpPr>
          <p:cNvPr id="55" name="Pune players label"/>
          <p:cNvSpPr txBox="1"/>
          <p:nvPr/>
        </p:nvSpPr>
        <p:spPr>
          <a:xfrm>
            <a:off x="8102600" y="28956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players expected</a:t>
            </a:r>
          </a:p>
        </p:txBody>
      </p:sp>
      <p:cxnSp>
        <p:nvCxnSpPr>
          <p:cNvPr id="56" name="Pune divider"/>
          <p:cNvCxnSpPr/>
          <p:nvPr/>
        </p:nvCxnSpPr>
        <p:spPr>
          <a:xfrm>
            <a:off x="8102600" y="3149600"/>
            <a:ext cx="14859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sp>
        <p:nvSpPr>
          <p:cNvPr id="57" name="Pune details"/>
          <p:cNvSpPr txBox="1"/>
          <p:nvPr/>
        </p:nvSpPr>
        <p:spPr>
          <a:xfrm>
            <a:off x="8102600" y="3251200"/>
            <a:ext cx="14859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Tables per day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10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Finalist seats  </a:t>
            </a:r>
            <a:r>
              <a:rPr sz="95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Ambassador colleges  </a:t>
            </a:r>
            <a:r>
              <a:rPr sz="9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58" name="Finals space"/>
          <p:cNvSpPr/>
          <p:nvPr/>
        </p:nvSpPr>
        <p:spPr>
          <a:xfrm>
            <a:off x="9817100" y="1435100"/>
            <a:ext cx="1739900" cy="2806700"/>
          </a:xfrm>
          <a:prstGeom prst="roundRect">
            <a:avLst>
              <a:gd name="adj" fmla="val 3649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9" name="MICA campus photo" descr="mica_campus_t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00" y="1511300"/>
            <a:ext cx="1587500" cy="869156"/>
          </a:xfrm>
          <a:prstGeom prst="rect">
            <a:avLst/>
          </a:prstGeom>
        </p:spPr>
      </p:pic>
      <p:sp>
        <p:nvSpPr>
          <p:cNvPr id="60" name="Finals date"/>
          <p:cNvSpPr txBox="1"/>
          <p:nvPr/>
        </p:nvSpPr>
        <p:spPr>
          <a:xfrm>
            <a:off x="9944100" y="2540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FINALS · SAT 12 DEC</a:t>
            </a:r>
          </a:p>
        </p:txBody>
      </p:sp>
      <p:sp>
        <p:nvSpPr>
          <p:cNvPr id="61" name="Finals venue"/>
          <p:cNvSpPr txBox="1"/>
          <p:nvPr/>
        </p:nvSpPr>
        <p:spPr>
          <a:xfrm>
            <a:off x="9944100" y="2717800"/>
            <a:ext cx="1485900" cy="482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MICA, Ahmedabad</a:t>
            </a:r>
          </a:p>
        </p:txBody>
      </p:sp>
      <p:sp>
        <p:nvSpPr>
          <p:cNvPr id="62" name="Finals note"/>
          <p:cNvSpPr txBox="1"/>
          <p:nvPr/>
        </p:nvSpPr>
        <p:spPr>
          <a:xfrm>
            <a:off x="9944100" y="3213100"/>
            <a:ext cx="14859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16 finalists. Meals and a hostel stay on campus.</a:t>
            </a:r>
          </a:p>
        </p:txBody>
      </p:sp>
      <p:sp>
        <p:nvSpPr>
          <p:cNvPr id="63" name="Totals band"/>
          <p:cNvSpPr/>
          <p:nvPr/>
        </p:nvSpPr>
        <p:spPr>
          <a:xfrm>
            <a:off x="609600" y="4394200"/>
            <a:ext cx="10972800" cy="469900"/>
          </a:xfrm>
          <a:prstGeom prst="roundRect">
            <a:avLst>
              <a:gd name="adj" fmla="val 13513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otals"/>
          <p:cNvSpPr txBox="1"/>
          <p:nvPr/>
        </p:nvSpPr>
        <p:spPr>
          <a:xfrm>
            <a:off x="787400" y="4394200"/>
            <a:ext cx="10668000" cy="469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TOTAL   </a:t>
            </a:r>
            <a:r>
              <a:rPr sz="1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504</a:t>
            </a:r>
            <a:r>
              <a:rPr sz="10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 players expected   ·   </a:t>
            </a:r>
            <a:r>
              <a:rPr sz="1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40</a:t>
            </a:r>
            <a:r>
              <a:rPr sz="10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 game sets (36 needed on weekend 2 + 4 spare)   ·   </a:t>
            </a:r>
            <a:r>
              <a:rPr sz="15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16</a:t>
            </a:r>
            <a:r>
              <a:rPr sz="10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 finalist seats</a:t>
            </a:r>
          </a:p>
        </p:txBody>
      </p:sp>
      <p:sp>
        <p:nvSpPr>
          <p:cNvPr id="65" name="Label: SLOTS"/>
          <p:cNvSpPr txBox="1"/>
          <p:nvPr/>
        </p:nvSpPr>
        <p:spPr>
          <a:xfrm>
            <a:off x="609600" y="50800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SLOTS</a:t>
            </a:r>
          </a:p>
        </p:txBody>
      </p:sp>
      <p:sp>
        <p:nvSpPr>
          <p:cNvPr id="66" name="Map note: SLOTS"/>
          <p:cNvSpPr txBox="1"/>
          <p:nvPr/>
        </p:nvSpPr>
        <p:spPr>
          <a:xfrm>
            <a:off x="609600" y="5295900"/>
            <a:ext cx="35306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Players pick a Saturday or Sunday slot when they register, which halves the tables needed per day. The expected split follows the number of ambassador colleges in each city.</a:t>
            </a:r>
          </a:p>
        </p:txBody>
      </p:sp>
      <p:sp>
        <p:nvSpPr>
          <p:cNvPr id="67" name="Label: SEAT RULE"/>
          <p:cNvSpPr txBox="1"/>
          <p:nvPr/>
        </p:nvSpPr>
        <p:spPr>
          <a:xfrm>
            <a:off x="4343400" y="50800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SEAT RULE</a:t>
            </a:r>
          </a:p>
        </p:txBody>
      </p:sp>
      <p:sp>
        <p:nvSpPr>
          <p:cNvPr id="68" name="Map note: SEAT RULE"/>
          <p:cNvSpPr txBox="1"/>
          <p:nvPr/>
        </p:nvSpPr>
        <p:spPr>
          <a:xfrm>
            <a:off x="4343400" y="5295900"/>
            <a:ext cx="35306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The 16 finalist seats are split by each city’s actual paid enrolments (largest-remainder method, minimum 2 per city). Shown at expected numbers; final seats are announced on 23 Nov.</a:t>
            </a:r>
          </a:p>
        </p:txBody>
      </p:sp>
      <p:sp>
        <p:nvSpPr>
          <p:cNvPr id="69" name="Label: VENUES &amp; SET ROUTE"/>
          <p:cNvSpPr txBox="1"/>
          <p:nvPr/>
        </p:nvSpPr>
        <p:spPr>
          <a:xfrm>
            <a:off x="8077200" y="50800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VENUES &amp; SET ROUTE</a:t>
            </a:r>
          </a:p>
        </p:txBody>
      </p:sp>
      <p:sp>
        <p:nvSpPr>
          <p:cNvPr id="70" name="Map note: VENUES &amp; SET ROUTE"/>
          <p:cNvSpPr txBox="1"/>
          <p:nvPr/>
        </p:nvSpPr>
        <p:spPr>
          <a:xfrm>
            <a:off x="8077200" y="5295900"/>
            <a:ext cx="35306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Venues are free through partner clubs; players pay their own travel. Sets ship to Delhi before weekend 1, then on to Mumbai, Bengaluru and Pune. Dates are checked against exam calendars.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1C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F3C9CB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F3C9CB"/>
                </a:solidFill>
                <a:latin typeface="Space Mono"/>
                <a:ea typeface="Space Mono"/>
                <a:cs typeface="Space Mono"/>
              </a:rPr>
              <a:t>§ 07  ·  ENTRY FEE · PRIZE POOL · PAYOUTS · REFUNDS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D9585E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07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The bank: fees, prizes &amp; refunds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D9585E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F3C9CB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F3C9CB"/>
                </a:solidFill>
                <a:latin typeface="Space Mono"/>
                <a:ea typeface="Space Mono"/>
                <a:cs typeface="Space Mono"/>
              </a:rPr>
              <a:t>PAGE 07 / 12</a:t>
            </a:r>
          </a:p>
        </p:txBody>
      </p:sp>
      <p:sp>
        <p:nvSpPr>
          <p:cNvPr id="14" name="Entry fee label"/>
          <p:cNvSpPr txBox="1"/>
          <p:nvPr/>
        </p:nvSpPr>
        <p:spPr>
          <a:xfrm>
            <a:off x="609600" y="14478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ENTRY FEE</a:t>
            </a:r>
          </a:p>
        </p:txBody>
      </p:sp>
      <p:sp>
        <p:nvSpPr>
          <p:cNvPr id="15" name="Money note 1"/>
          <p:cNvSpPr/>
          <p:nvPr/>
        </p:nvSpPr>
        <p:spPr>
          <a:xfrm>
            <a:off x="609600" y="1676400"/>
            <a:ext cx="3302000" cy="9017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Money note 1 border"/>
          <p:cNvSpPr/>
          <p:nvPr/>
        </p:nvSpPr>
        <p:spPr>
          <a:xfrm>
            <a:off x="685800" y="1752600"/>
            <a:ext cx="3149600" cy="749300"/>
          </a:xfrm>
          <a:prstGeom prst="roundRect">
            <a:avLst>
              <a:gd name="adj" fmla="val 5084"/>
            </a:avLst>
          </a:prstGeom>
          <a:noFill/>
          <a:ln w="12700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7" name="Money note 1 value"/>
          <p:cNvSpPr txBox="1"/>
          <p:nvPr/>
        </p:nvSpPr>
        <p:spPr>
          <a:xfrm>
            <a:off x="800100" y="1803400"/>
            <a:ext cx="12700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28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299</a:t>
            </a:r>
          </a:p>
        </p:txBody>
      </p:sp>
      <p:sp>
        <p:nvSpPr>
          <p:cNvPr id="18" name="Money note 1 title"/>
          <p:cNvSpPr txBox="1"/>
          <p:nvPr/>
        </p:nvSpPr>
        <p:spPr>
          <a:xfrm>
            <a:off x="2095500" y="1841500"/>
            <a:ext cx="1651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REGULAR ENTRY</a:t>
            </a:r>
          </a:p>
        </p:txBody>
      </p:sp>
      <p:sp>
        <p:nvSpPr>
          <p:cNvPr id="19" name="Money note 1 text"/>
          <p:cNvSpPr txBox="1"/>
          <p:nvPr/>
        </p:nvSpPr>
        <p:spPr>
          <a:xfrm>
            <a:off x="2095500" y="2019300"/>
            <a:ext cx="16637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The standard fee for every solo entry.</a:t>
            </a:r>
          </a:p>
        </p:txBody>
      </p:sp>
      <p:sp>
        <p:nvSpPr>
          <p:cNvPr id="20" name="Money note 2"/>
          <p:cNvSpPr/>
          <p:nvPr/>
        </p:nvSpPr>
        <p:spPr>
          <a:xfrm>
            <a:off x="609600" y="2679700"/>
            <a:ext cx="3302000" cy="9017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Money note 2 border"/>
          <p:cNvSpPr/>
          <p:nvPr/>
        </p:nvSpPr>
        <p:spPr>
          <a:xfrm>
            <a:off x="685800" y="2755900"/>
            <a:ext cx="3149600" cy="749300"/>
          </a:xfrm>
          <a:prstGeom prst="roundRect">
            <a:avLst>
              <a:gd name="adj" fmla="val 5084"/>
            </a:avLst>
          </a:prstGeom>
          <a:noFill/>
          <a:ln w="12700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2" name="Money note 2 value"/>
          <p:cNvSpPr txBox="1"/>
          <p:nvPr/>
        </p:nvSpPr>
        <p:spPr>
          <a:xfrm>
            <a:off x="800100" y="2806700"/>
            <a:ext cx="12700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28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249</a:t>
            </a:r>
          </a:p>
        </p:txBody>
      </p:sp>
      <p:sp>
        <p:nvSpPr>
          <p:cNvPr id="23" name="Money note 2 title"/>
          <p:cNvSpPr txBox="1"/>
          <p:nvPr/>
        </p:nvSpPr>
        <p:spPr>
          <a:xfrm>
            <a:off x="2095500" y="2844800"/>
            <a:ext cx="1651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EARLY BIRD</a:t>
            </a:r>
          </a:p>
        </p:txBody>
      </p:sp>
      <p:sp>
        <p:nvSpPr>
          <p:cNvPr id="24" name="Money note 2 text"/>
          <p:cNvSpPr txBox="1"/>
          <p:nvPr/>
        </p:nvSpPr>
        <p:spPr>
          <a:xfrm>
            <a:off x="2095500" y="3022600"/>
            <a:ext cx="16637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First 150 players or until 1 Nov, whichever comes first.</a:t>
            </a:r>
          </a:p>
        </p:txBody>
      </p:sp>
      <p:sp>
        <p:nvSpPr>
          <p:cNvPr id="25" name="Money note 3"/>
          <p:cNvSpPr/>
          <p:nvPr/>
        </p:nvSpPr>
        <p:spPr>
          <a:xfrm>
            <a:off x="609600" y="3683000"/>
            <a:ext cx="3302000" cy="9017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Money note 3 border"/>
          <p:cNvSpPr/>
          <p:nvPr/>
        </p:nvSpPr>
        <p:spPr>
          <a:xfrm>
            <a:off x="685800" y="3759200"/>
            <a:ext cx="3149600" cy="749300"/>
          </a:xfrm>
          <a:prstGeom prst="roundRect">
            <a:avLst>
              <a:gd name="adj" fmla="val 5084"/>
            </a:avLst>
          </a:prstGeom>
          <a:noFill/>
          <a:ln w="12700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7" name="Money note 3 value"/>
          <p:cNvSpPr txBox="1"/>
          <p:nvPr/>
        </p:nvSpPr>
        <p:spPr>
          <a:xfrm>
            <a:off x="800100" y="3810000"/>
            <a:ext cx="1270000" cy="660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28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249</a:t>
            </a:r>
          </a:p>
        </p:txBody>
      </p:sp>
      <p:sp>
        <p:nvSpPr>
          <p:cNvPr id="28" name="Money note 3 title"/>
          <p:cNvSpPr txBox="1"/>
          <p:nvPr/>
        </p:nvSpPr>
        <p:spPr>
          <a:xfrm>
            <a:off x="2095500" y="3848100"/>
            <a:ext cx="1651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REFERRED FRIEND</a:t>
            </a:r>
          </a:p>
        </p:txBody>
      </p:sp>
      <p:sp>
        <p:nvSpPr>
          <p:cNvPr id="29" name="Money note 3 text"/>
          <p:cNvSpPr txBox="1"/>
          <p:nvPr/>
        </p:nvSpPr>
        <p:spPr>
          <a:xfrm>
            <a:off x="2095500" y="4025900"/>
            <a:ext cx="16637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Your friend pays ₹249 with your referral code.</a:t>
            </a:r>
          </a:p>
        </p:txBody>
      </p:sp>
      <p:sp>
        <p:nvSpPr>
          <p:cNvPr id="30" name="Refunds card"/>
          <p:cNvSpPr/>
          <p:nvPr/>
        </p:nvSpPr>
        <p:spPr>
          <a:xfrm>
            <a:off x="609600" y="4762500"/>
            <a:ext cx="3302000" cy="15240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efunds label"/>
          <p:cNvSpPr txBox="1"/>
          <p:nvPr/>
        </p:nvSpPr>
        <p:spPr>
          <a:xfrm>
            <a:off x="762000" y="4876800"/>
            <a:ext cx="3048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REFUNDS</a:t>
            </a:r>
          </a:p>
        </p:txBody>
      </p:sp>
      <p:sp>
        <p:nvSpPr>
          <p:cNvPr id="32" name="Refunds list"/>
          <p:cNvSpPr txBox="1"/>
          <p:nvPr/>
        </p:nvSpPr>
        <p:spPr>
          <a:xfrm>
            <a:off x="762000" y="509270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9700" indent="-139700">
              <a:lnSpc>
                <a:spcPct val="118000"/>
              </a:lnSpc>
              <a:spcAft>
                <a:spcPts val="400"/>
              </a:spcAft>
              <a:buClr>
                <a:srgbClr val="E2353C"/>
              </a:buClr>
              <a:buFont typeface="Space Grotesk"/>
              <a:buChar char="•"/>
            </a:pPr>
            <a:r>
              <a:rPr sz="9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Full refund if we cancel or reschedule a city event.</a:t>
            </a:r>
          </a:p>
          <a:p>
            <a:pPr algn="l" marL="139700" indent="-139700">
              <a:lnSpc>
                <a:spcPct val="118000"/>
              </a:lnSpc>
              <a:spcAft>
                <a:spcPts val="400"/>
              </a:spcAft>
              <a:buClr>
                <a:srgbClr val="E2353C"/>
              </a:buClr>
              <a:buFont typeface="Space Grotesk"/>
              <a:buChar char="•"/>
            </a:pPr>
            <a:r>
              <a:rPr sz="9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50% refund on requests made up to 22 Nov.</a:t>
            </a:r>
          </a:p>
          <a:p>
            <a:pPr algn="l" marL="139700" indent="-139700">
              <a:lnSpc>
                <a:spcPct val="118000"/>
              </a:lnSpc>
              <a:spcAft>
                <a:spcPts val="400"/>
              </a:spcAft>
              <a:buClr>
                <a:srgbClr val="E2353C"/>
              </a:buClr>
              <a:buFont typeface="Space Grotesk"/>
              <a:buChar char="•"/>
            </a:pPr>
            <a:r>
              <a:rPr sz="90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No refunds after registrations close; no-shows forfeit the fee.</a:t>
            </a:r>
          </a:p>
        </p:txBody>
      </p:sp>
      <p:sp>
        <p:nvSpPr>
          <p:cNvPr id="33" name="Prize pool card"/>
          <p:cNvSpPr/>
          <p:nvPr/>
        </p:nvSpPr>
        <p:spPr>
          <a:xfrm>
            <a:off x="4165600" y="1447800"/>
            <a:ext cx="3860800" cy="4838700"/>
          </a:xfrm>
          <a:prstGeom prst="roundRect">
            <a:avLst>
              <a:gd name="adj" fmla="val 230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Prize pool label"/>
          <p:cNvSpPr txBox="1"/>
          <p:nvPr/>
        </p:nvSpPr>
        <p:spPr>
          <a:xfrm>
            <a:off x="4368800" y="16002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PRIZE POOL</a:t>
            </a:r>
          </a:p>
        </p:txBody>
      </p:sp>
      <p:pic>
        <p:nvPicPr>
          <p:cNvPr id="35" name="Trophy" descr="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00" y="1562100"/>
            <a:ext cx="711200" cy="817880"/>
          </a:xfrm>
          <a:prstGeom prst="rect">
            <a:avLst/>
          </a:prstGeom>
        </p:spPr>
      </p:pic>
      <p:sp>
        <p:nvSpPr>
          <p:cNvPr id="36" name="Guaranteed amount"/>
          <p:cNvSpPr txBox="1"/>
          <p:nvPr/>
        </p:nvSpPr>
        <p:spPr>
          <a:xfrm>
            <a:off x="4368800" y="1803400"/>
            <a:ext cx="27940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42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20,000</a:t>
            </a:r>
          </a:p>
        </p:txBody>
      </p:sp>
      <p:sp>
        <p:nvSpPr>
          <p:cNvPr id="37" name="Up to line"/>
          <p:cNvSpPr txBox="1"/>
          <p:nvPr/>
        </p:nvSpPr>
        <p:spPr>
          <a:xfrm>
            <a:off x="4368800" y="24130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guaranteed, up to </a:t>
            </a:r>
            <a:r>
              <a:rPr sz="150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5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30,000</a:t>
            </a:r>
          </a:p>
        </p:txBody>
      </p:sp>
      <p:sp>
        <p:nvSpPr>
          <p:cNvPr id="38" name="Prize rule"/>
          <p:cNvSpPr txBox="1"/>
          <p:nvPr/>
        </p:nvSpPr>
        <p:spPr>
          <a:xfrm>
            <a:off x="4368800" y="2730500"/>
            <a:ext cx="34798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+₹50 for every paid enrolment after 300, capped at ₹30,000 (reached at 500 players). Guaranteed in writing, whatever the turnout.</a:t>
            </a:r>
          </a:p>
        </p:txBody>
      </p:sp>
      <p:sp>
        <p:nvSpPr>
          <p:cNvPr id="39" name="Meter: guaranteed part"/>
          <p:cNvSpPr/>
          <p:nvPr/>
        </p:nvSpPr>
        <p:spPr>
          <a:xfrm>
            <a:off x="4368800" y="3479800"/>
            <a:ext cx="2057400" cy="1905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Meter: growing part"/>
          <p:cNvSpPr/>
          <p:nvPr/>
        </p:nvSpPr>
        <p:spPr>
          <a:xfrm>
            <a:off x="6426200" y="3479800"/>
            <a:ext cx="1371600" cy="1905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Meter guaranteed text"/>
          <p:cNvSpPr txBox="1"/>
          <p:nvPr/>
        </p:nvSpPr>
        <p:spPr>
          <a:xfrm>
            <a:off x="4445000" y="3479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₹20,000 GUARANTEED</a:t>
            </a:r>
          </a:p>
        </p:txBody>
      </p:sp>
      <p:sp>
        <p:nvSpPr>
          <p:cNvPr id="42" name="Meter growth text"/>
          <p:cNvSpPr txBox="1"/>
          <p:nvPr/>
        </p:nvSpPr>
        <p:spPr>
          <a:xfrm>
            <a:off x="6489700" y="34798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+₹50 / PLAYER</a:t>
            </a:r>
          </a:p>
        </p:txBody>
      </p:sp>
      <p:cxnSp>
        <p:nvCxnSpPr>
          <p:cNvPr id="43" name="Meter tick 0"/>
          <p:cNvCxnSpPr/>
          <p:nvPr/>
        </p:nvCxnSpPr>
        <p:spPr>
          <a:xfrm>
            <a:off x="4368800" y="3441700"/>
            <a:ext cx="0" cy="27940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44" name="Meter label 0"/>
          <p:cNvSpPr txBox="1"/>
          <p:nvPr/>
        </p:nvSpPr>
        <p:spPr>
          <a:xfrm>
            <a:off x="4368800" y="3759200"/>
            <a:ext cx="825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0 players</a:t>
            </a:r>
          </a:p>
          <a:p>
            <a:pPr algn="l">
              <a:lnSpc>
                <a:spcPct val="110000"/>
              </a:lnSpc>
            </a:pPr>
            <a:r>
              <a:rPr sz="650" b="0" i="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₹20,000</a:t>
            </a:r>
          </a:p>
        </p:txBody>
      </p:sp>
      <p:cxnSp>
        <p:nvCxnSpPr>
          <p:cNvPr id="45" name="Meter tick 300"/>
          <p:cNvCxnSpPr/>
          <p:nvPr/>
        </p:nvCxnSpPr>
        <p:spPr>
          <a:xfrm>
            <a:off x="6426200" y="3441700"/>
            <a:ext cx="0" cy="27940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46" name="Meter label 300"/>
          <p:cNvSpPr txBox="1"/>
          <p:nvPr/>
        </p:nvSpPr>
        <p:spPr>
          <a:xfrm>
            <a:off x="6013450" y="3759200"/>
            <a:ext cx="825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1" i="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300 players</a:t>
            </a:r>
          </a:p>
          <a:p>
            <a:pPr algn="ctr">
              <a:lnSpc>
                <a:spcPct val="110000"/>
              </a:lnSpc>
            </a:pPr>
            <a:r>
              <a:rPr sz="650" b="1" i="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₹20,000</a:t>
            </a:r>
          </a:p>
        </p:txBody>
      </p:sp>
      <p:cxnSp>
        <p:nvCxnSpPr>
          <p:cNvPr id="47" name="Meter tick 500"/>
          <p:cNvCxnSpPr/>
          <p:nvPr/>
        </p:nvCxnSpPr>
        <p:spPr>
          <a:xfrm>
            <a:off x="7797800" y="3441700"/>
            <a:ext cx="0" cy="27940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48" name="Meter label 500"/>
          <p:cNvSpPr txBox="1"/>
          <p:nvPr/>
        </p:nvSpPr>
        <p:spPr>
          <a:xfrm>
            <a:off x="6972300" y="3759200"/>
            <a:ext cx="825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0000"/>
              </a:lnSpc>
            </a:pPr>
            <a:r>
              <a:rPr sz="6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500 players</a:t>
            </a:r>
          </a:p>
          <a:p>
            <a:pPr algn="r">
              <a:lnSpc>
                <a:spcPct val="110000"/>
              </a:lnSpc>
            </a:pPr>
            <a:r>
              <a:rPr sz="65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₹30,000</a:t>
            </a:r>
          </a:p>
        </p:txBody>
      </p:sp>
      <p:sp>
        <p:nvSpPr>
          <p:cNvPr id="49" name="Meter note 12 Nov"/>
          <p:cNvSpPr txBox="1"/>
          <p:nvPr/>
        </p:nvSpPr>
        <p:spPr>
          <a:xfrm>
            <a:off x="6559296" y="3289300"/>
            <a:ext cx="165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12 Nov: 312 players → ₹20,600</a:t>
            </a:r>
          </a:p>
        </p:txBody>
      </p:sp>
      <p:cxnSp>
        <p:nvCxnSpPr>
          <p:cNvPr id="50" name="Meter 312 tick"/>
          <p:cNvCxnSpPr/>
          <p:nvPr/>
        </p:nvCxnSpPr>
        <p:spPr>
          <a:xfrm>
            <a:off x="6508496" y="3314700"/>
            <a:ext cx="0" cy="1651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51" name="Split label"/>
          <p:cNvSpPr txBox="1"/>
          <p:nvPr/>
        </p:nvSpPr>
        <p:spPr>
          <a:xfrm>
            <a:off x="4368800" y="4140200"/>
            <a:ext cx="34798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141414"/>
                </a:solidFill>
                <a:latin typeface="Space Mono"/>
                <a:ea typeface="Space Mono"/>
                <a:cs typeface="Space Mono"/>
              </a:rPr>
              <a:t>PRIZE SPLIT AT THE CAP (₹30,000)</a:t>
            </a:r>
          </a:p>
        </p:txBody>
      </p:sp>
      <p:graphicFrame>
        <p:nvGraphicFramePr>
          <p:cNvPr id="52" name="Prize split table"/>
          <p:cNvGraphicFramePr>
            <a:graphicFrameLocks noGrp="1"/>
          </p:cNvGraphicFramePr>
          <p:nvPr/>
        </p:nvGraphicFramePr>
        <p:xfrm>
          <a:off x="4368800" y="4343400"/>
          <a:ext cx="3479800" cy="132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9900"/>
                <a:gridCol w="1739900"/>
              </a:tblGrid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1st place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₹12,000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2nd place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₹8,000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3rd place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₹6,000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4th place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₹4,000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3" name="Split note"/>
          <p:cNvSpPr txBox="1"/>
          <p:nvPr/>
        </p:nvSpPr>
        <p:spPr>
          <a:xfrm>
            <a:off x="4368800" y="5715000"/>
            <a:ext cx="3479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Below the cap, the pool is split in the same 40 / 27 / 20 / 13 ratio.</a:t>
            </a:r>
          </a:p>
        </p:txBody>
      </p:sp>
      <p:sp>
        <p:nvSpPr>
          <p:cNvPr id="54" name="Payouts card"/>
          <p:cNvSpPr/>
          <p:nvPr/>
        </p:nvSpPr>
        <p:spPr>
          <a:xfrm>
            <a:off x="8280400" y="1447800"/>
            <a:ext cx="3302000" cy="48387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Payouts label"/>
          <p:cNvSpPr txBox="1"/>
          <p:nvPr/>
        </p:nvSpPr>
        <p:spPr>
          <a:xfrm>
            <a:off x="8458200" y="1600200"/>
            <a:ext cx="29845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PAYOUTS &amp; PERKS</a:t>
            </a:r>
          </a:p>
        </p:txBody>
      </p:sp>
      <p:sp>
        <p:nvSpPr>
          <p:cNvPr id="56" name="Perk 1 marker"/>
          <p:cNvSpPr/>
          <p:nvPr/>
        </p:nvSpPr>
        <p:spPr>
          <a:xfrm rot="2700000">
            <a:off x="8458200" y="19177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Perk 1 title"/>
          <p:cNvSpPr txBox="1"/>
          <p:nvPr/>
        </p:nvSpPr>
        <p:spPr>
          <a:xfrm>
            <a:off x="8674100" y="1879600"/>
            <a:ext cx="2730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Paid within 7 days</a:t>
            </a:r>
          </a:p>
        </p:txBody>
      </p:sp>
      <p:sp>
        <p:nvSpPr>
          <p:cNvPr id="58" name="Perk 1 text"/>
          <p:cNvSpPr txBox="1"/>
          <p:nvPr/>
        </p:nvSpPr>
        <p:spPr>
          <a:xfrm>
            <a:off x="8674100" y="2108200"/>
            <a:ext cx="27305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Bank transfer to winners within 7 days of the finals.</a:t>
            </a:r>
          </a:p>
        </p:txBody>
      </p:sp>
      <p:sp>
        <p:nvSpPr>
          <p:cNvPr id="59" name="Perk 2 marker"/>
          <p:cNvSpPr/>
          <p:nvPr/>
        </p:nvSpPr>
        <p:spPr>
          <a:xfrm rot="2700000">
            <a:off x="8458200" y="27813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Perk 2 title"/>
          <p:cNvSpPr txBox="1"/>
          <p:nvPr/>
        </p:nvSpPr>
        <p:spPr>
          <a:xfrm>
            <a:off x="8674100" y="2743200"/>
            <a:ext cx="2730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Tax, said upfront</a:t>
            </a:r>
          </a:p>
        </p:txBody>
      </p:sp>
      <p:sp>
        <p:nvSpPr>
          <p:cNvPr id="61" name="Perk 2 text"/>
          <p:cNvSpPr txBox="1"/>
          <p:nvPr/>
        </p:nvSpPr>
        <p:spPr>
          <a:xfrm>
            <a:off x="8674100" y="2971800"/>
            <a:ext cx="27305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TDS is deducted on any prize above ₹10,000, with a certificate issued. The FAQ says so.</a:t>
            </a:r>
          </a:p>
        </p:txBody>
      </p:sp>
      <p:sp>
        <p:nvSpPr>
          <p:cNvPr id="62" name="Perk 3 marker"/>
          <p:cNvSpPr/>
          <p:nvPr/>
        </p:nvSpPr>
        <p:spPr>
          <a:xfrm rot="2700000">
            <a:off x="8458200" y="36449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Perk 3 title"/>
          <p:cNvSpPr txBox="1"/>
          <p:nvPr/>
        </p:nvSpPr>
        <p:spPr>
          <a:xfrm>
            <a:off x="8674100" y="3606800"/>
            <a:ext cx="2730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Trophies and merch</a:t>
            </a:r>
          </a:p>
        </p:txBody>
      </p:sp>
      <p:sp>
        <p:nvSpPr>
          <p:cNvPr id="64" name="Perk 3 text"/>
          <p:cNvSpPr txBox="1"/>
          <p:nvPr/>
        </p:nvSpPr>
        <p:spPr>
          <a:xfrm>
            <a:off x="8674100" y="3835400"/>
            <a:ext cx="27305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For all 16 finalists.</a:t>
            </a:r>
          </a:p>
        </p:txBody>
      </p:sp>
      <p:sp>
        <p:nvSpPr>
          <p:cNvPr id="65" name="Perk 4 marker"/>
          <p:cNvSpPr/>
          <p:nvPr/>
        </p:nvSpPr>
        <p:spPr>
          <a:xfrm rot="2700000">
            <a:off x="8458200" y="45085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Perk 4 title"/>
          <p:cNvSpPr txBox="1"/>
          <p:nvPr/>
        </p:nvSpPr>
        <p:spPr>
          <a:xfrm>
            <a:off x="8674100" y="4470400"/>
            <a:ext cx="2730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Certificates</a:t>
            </a:r>
          </a:p>
        </p:txBody>
      </p:sp>
      <p:sp>
        <p:nvSpPr>
          <p:cNvPr id="67" name="Perk 4 text"/>
          <p:cNvSpPr txBox="1"/>
          <p:nvPr/>
        </p:nvSpPr>
        <p:spPr>
          <a:xfrm>
            <a:off x="8674100" y="4699000"/>
            <a:ext cx="27305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Participation certificate for every player; merit certificate for every finalist.</a:t>
            </a:r>
          </a:p>
        </p:txBody>
      </p:sp>
      <p:sp>
        <p:nvSpPr>
          <p:cNvPr id="68" name="Perk 5 marker"/>
          <p:cNvSpPr/>
          <p:nvPr/>
        </p:nvSpPr>
        <p:spPr>
          <a:xfrm rot="2700000">
            <a:off x="8458200" y="5372100"/>
            <a:ext cx="114300" cy="114300"/>
          </a:xfrm>
          <a:prstGeom prst="roundRect">
            <a:avLst>
              <a:gd name="adj" fmla="val 16666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9" name="Perk 5 title"/>
          <p:cNvSpPr txBox="1"/>
          <p:nvPr/>
        </p:nvSpPr>
        <p:spPr>
          <a:xfrm>
            <a:off x="8674100" y="5334000"/>
            <a:ext cx="27305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Finals at MICA</a:t>
            </a:r>
          </a:p>
        </p:txBody>
      </p:sp>
      <p:sp>
        <p:nvSpPr>
          <p:cNvPr id="70" name="Perk 5 text"/>
          <p:cNvSpPr txBox="1"/>
          <p:nvPr/>
        </p:nvSpPr>
        <p:spPr>
          <a:xfrm>
            <a:off x="8674100" y="5562600"/>
            <a:ext cx="2730500" cy="584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Meals and a hostel stay for finalists on 12 Dec. Players pay their own travel.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08  ·  FUNNEL &amp; CHANNELS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08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Path to 500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08 / 12</a:t>
            </a:r>
          </a:p>
        </p:txBody>
      </p:sp>
      <p:sp>
        <p:nvSpPr>
          <p:cNvPr id="14" name="Funnel space: REACH"/>
          <p:cNvSpPr/>
          <p:nvPr/>
        </p:nvSpPr>
        <p:spPr>
          <a:xfrm>
            <a:off x="609600" y="1714500"/>
            <a:ext cx="1739900" cy="12446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15" name="Funnel strip: REACH"/>
          <p:cNvSpPr/>
          <p:nvPr/>
        </p:nvSpPr>
        <p:spPr>
          <a:xfrm>
            <a:off x="609600" y="1714500"/>
            <a:ext cx="1739900" cy="1143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EACH label"/>
          <p:cNvSpPr txBox="1"/>
          <p:nvPr/>
        </p:nvSpPr>
        <p:spPr>
          <a:xfrm>
            <a:off x="736600" y="1905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REACH</a:t>
            </a:r>
          </a:p>
        </p:txBody>
      </p:sp>
      <p:sp>
        <p:nvSpPr>
          <p:cNvPr id="17" name="REACH value"/>
          <p:cNvSpPr txBox="1"/>
          <p:nvPr/>
        </p:nvSpPr>
        <p:spPr>
          <a:xfrm>
            <a:off x="736600" y="2095500"/>
            <a:ext cx="14859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3,30,000</a:t>
            </a:r>
          </a:p>
        </p:txBody>
      </p:sp>
      <p:sp>
        <p:nvSpPr>
          <p:cNvPr id="18" name="REACH note"/>
          <p:cNvSpPr txBox="1"/>
          <p:nvPr/>
        </p:nvSpPr>
        <p:spPr>
          <a:xfrm>
            <a:off x="736600" y="2565400"/>
            <a:ext cx="14859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across 4 channels</a:t>
            </a:r>
          </a:p>
        </p:txBody>
      </p:sp>
      <p:sp>
        <p:nvSpPr>
          <p:cNvPr id="19" name="Funnel arrow 1"/>
          <p:cNvSpPr txBox="1"/>
          <p:nvPr/>
        </p:nvSpPr>
        <p:spPr>
          <a:xfrm>
            <a:off x="2298700" y="2190750"/>
            <a:ext cx="203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0" name="Funnel space: CLICKS"/>
          <p:cNvSpPr/>
          <p:nvPr/>
        </p:nvSpPr>
        <p:spPr>
          <a:xfrm>
            <a:off x="2451100" y="1714500"/>
            <a:ext cx="1739900" cy="12446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21" name="Funnel strip: CLICKS"/>
          <p:cNvSpPr/>
          <p:nvPr/>
        </p:nvSpPr>
        <p:spPr>
          <a:xfrm>
            <a:off x="2451100" y="1714500"/>
            <a:ext cx="1739900" cy="1143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CLICKS label"/>
          <p:cNvSpPr txBox="1"/>
          <p:nvPr/>
        </p:nvSpPr>
        <p:spPr>
          <a:xfrm>
            <a:off x="2578100" y="1905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CLICKS</a:t>
            </a:r>
          </a:p>
        </p:txBody>
      </p:sp>
      <p:sp>
        <p:nvSpPr>
          <p:cNvPr id="23" name="CLICKS value"/>
          <p:cNvSpPr txBox="1"/>
          <p:nvPr/>
        </p:nvSpPr>
        <p:spPr>
          <a:xfrm>
            <a:off x="2578100" y="2095500"/>
            <a:ext cx="14859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6,400</a:t>
            </a:r>
          </a:p>
        </p:txBody>
      </p:sp>
      <p:sp>
        <p:nvSpPr>
          <p:cNvPr id="24" name="CLICKS note"/>
          <p:cNvSpPr txBox="1"/>
          <p:nvPr/>
        </p:nvSpPr>
        <p:spPr>
          <a:xfrm>
            <a:off x="2578100" y="2565400"/>
            <a:ext cx="14859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1.9% of reach</a:t>
            </a:r>
          </a:p>
        </p:txBody>
      </p:sp>
      <p:sp>
        <p:nvSpPr>
          <p:cNvPr id="25" name="Funnel arrow 2"/>
          <p:cNvSpPr txBox="1"/>
          <p:nvPr/>
        </p:nvSpPr>
        <p:spPr>
          <a:xfrm>
            <a:off x="4140200" y="2190750"/>
            <a:ext cx="203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26" name="Funnel space: SIGN-UPS"/>
          <p:cNvSpPr/>
          <p:nvPr/>
        </p:nvSpPr>
        <p:spPr>
          <a:xfrm>
            <a:off x="4292600" y="1714500"/>
            <a:ext cx="1739900" cy="12446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27" name="Funnel strip: SIGN-UPS"/>
          <p:cNvSpPr/>
          <p:nvPr/>
        </p:nvSpPr>
        <p:spPr>
          <a:xfrm>
            <a:off x="4292600" y="1714500"/>
            <a:ext cx="1739900" cy="1143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SIGN-UPS label"/>
          <p:cNvSpPr txBox="1"/>
          <p:nvPr/>
        </p:nvSpPr>
        <p:spPr>
          <a:xfrm>
            <a:off x="4419600" y="1905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SIGN-UPS</a:t>
            </a:r>
          </a:p>
        </p:txBody>
      </p:sp>
      <p:sp>
        <p:nvSpPr>
          <p:cNvPr id="29" name="SIGN-UPS value"/>
          <p:cNvSpPr txBox="1"/>
          <p:nvPr/>
        </p:nvSpPr>
        <p:spPr>
          <a:xfrm>
            <a:off x="4419600" y="2095500"/>
            <a:ext cx="14859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648</a:t>
            </a:r>
          </a:p>
        </p:txBody>
      </p:sp>
      <p:sp>
        <p:nvSpPr>
          <p:cNvPr id="30" name="SIGN-UPS note"/>
          <p:cNvSpPr txBox="1"/>
          <p:nvPr/>
        </p:nvSpPr>
        <p:spPr>
          <a:xfrm>
            <a:off x="4419600" y="2565400"/>
            <a:ext cx="14859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10.1% of clicks</a:t>
            </a:r>
          </a:p>
        </p:txBody>
      </p:sp>
      <p:sp>
        <p:nvSpPr>
          <p:cNvPr id="31" name="Funnel arrow 3"/>
          <p:cNvSpPr txBox="1"/>
          <p:nvPr/>
        </p:nvSpPr>
        <p:spPr>
          <a:xfrm>
            <a:off x="5981700" y="2190750"/>
            <a:ext cx="203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32" name="Funnel space: PAID"/>
          <p:cNvSpPr/>
          <p:nvPr/>
        </p:nvSpPr>
        <p:spPr>
          <a:xfrm>
            <a:off x="6134100" y="1714500"/>
            <a:ext cx="1739900" cy="12446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33" name="Funnel strip: PAID"/>
          <p:cNvSpPr/>
          <p:nvPr/>
        </p:nvSpPr>
        <p:spPr>
          <a:xfrm>
            <a:off x="6134100" y="1714500"/>
            <a:ext cx="1739900" cy="1143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PAID label"/>
          <p:cNvSpPr txBox="1"/>
          <p:nvPr/>
        </p:nvSpPr>
        <p:spPr>
          <a:xfrm>
            <a:off x="6261100" y="1905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PAID</a:t>
            </a:r>
          </a:p>
        </p:txBody>
      </p:sp>
      <p:sp>
        <p:nvSpPr>
          <p:cNvPr id="35" name="PAID value"/>
          <p:cNvSpPr txBox="1"/>
          <p:nvPr/>
        </p:nvSpPr>
        <p:spPr>
          <a:xfrm>
            <a:off x="6261100" y="2095500"/>
            <a:ext cx="14859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438</a:t>
            </a:r>
          </a:p>
        </p:txBody>
      </p:sp>
      <p:sp>
        <p:nvSpPr>
          <p:cNvPr id="36" name="PAID note"/>
          <p:cNvSpPr txBox="1"/>
          <p:nvPr/>
        </p:nvSpPr>
        <p:spPr>
          <a:xfrm>
            <a:off x="6261100" y="2565400"/>
            <a:ext cx="14859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67.6% of sign-ups</a:t>
            </a:r>
          </a:p>
        </p:txBody>
      </p:sp>
      <p:sp>
        <p:nvSpPr>
          <p:cNvPr id="37" name="Funnel arrow 4"/>
          <p:cNvSpPr txBox="1"/>
          <p:nvPr/>
        </p:nvSpPr>
        <p:spPr>
          <a:xfrm>
            <a:off x="7823200" y="2190750"/>
            <a:ext cx="203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38" name="Funnel space: REFERRALS"/>
          <p:cNvSpPr/>
          <p:nvPr/>
        </p:nvSpPr>
        <p:spPr>
          <a:xfrm>
            <a:off x="7975600" y="1714500"/>
            <a:ext cx="1739900" cy="12446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39" name="Funnel strip: REFERRALS"/>
          <p:cNvSpPr/>
          <p:nvPr/>
        </p:nvSpPr>
        <p:spPr>
          <a:xfrm>
            <a:off x="7975600" y="1714500"/>
            <a:ext cx="1739900" cy="114300"/>
          </a:xfrm>
          <a:prstGeom prst="rect">
            <a:avLst/>
          </a:prstGeom>
          <a:solidFill>
            <a:srgbClr val="8E12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REFERRALS label"/>
          <p:cNvSpPr txBox="1"/>
          <p:nvPr/>
        </p:nvSpPr>
        <p:spPr>
          <a:xfrm>
            <a:off x="8102600" y="1905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REFERRALS</a:t>
            </a:r>
          </a:p>
        </p:txBody>
      </p:sp>
      <p:sp>
        <p:nvSpPr>
          <p:cNvPr id="41" name="REFERRALS value"/>
          <p:cNvSpPr txBox="1"/>
          <p:nvPr/>
        </p:nvSpPr>
        <p:spPr>
          <a:xfrm>
            <a:off x="8102600" y="2095500"/>
            <a:ext cx="14859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+66</a:t>
            </a:r>
          </a:p>
        </p:txBody>
      </p:sp>
      <p:sp>
        <p:nvSpPr>
          <p:cNvPr id="42" name="REFERRALS note"/>
          <p:cNvSpPr txBox="1"/>
          <p:nvPr/>
        </p:nvSpPr>
        <p:spPr>
          <a:xfrm>
            <a:off x="8102600" y="2565400"/>
            <a:ext cx="14859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15% of payers bring a friend</a:t>
            </a:r>
          </a:p>
        </p:txBody>
      </p:sp>
      <p:sp>
        <p:nvSpPr>
          <p:cNvPr id="43" name="Funnel arrow 5"/>
          <p:cNvSpPr txBox="1"/>
          <p:nvPr/>
        </p:nvSpPr>
        <p:spPr>
          <a:xfrm>
            <a:off x="9664700" y="2190750"/>
            <a:ext cx="2032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81C23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44" name="Funnel space: PAID ENROLMENTS"/>
          <p:cNvSpPr/>
          <p:nvPr/>
        </p:nvSpPr>
        <p:spPr>
          <a:xfrm>
            <a:off x="9817100" y="1714500"/>
            <a:ext cx="1739900" cy="1244600"/>
          </a:xfrm>
          <a:prstGeom prst="roundRect">
            <a:avLst>
              <a:gd name="adj" fmla="val 5102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Funnel strip: PAID ENROLMENTS"/>
          <p:cNvSpPr/>
          <p:nvPr/>
        </p:nvSpPr>
        <p:spPr>
          <a:xfrm>
            <a:off x="9817100" y="1714500"/>
            <a:ext cx="1739900" cy="114300"/>
          </a:xfrm>
          <a:prstGeom prst="rect">
            <a:avLst/>
          </a:prstGeom>
          <a:solidFill>
            <a:srgbClr val="8E12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PAID ENROLMENTS label"/>
          <p:cNvSpPr txBox="1"/>
          <p:nvPr/>
        </p:nvSpPr>
        <p:spPr>
          <a:xfrm>
            <a:off x="9944100" y="1905000"/>
            <a:ext cx="1485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PAID ENROLMENTS</a:t>
            </a:r>
          </a:p>
        </p:txBody>
      </p:sp>
      <p:sp>
        <p:nvSpPr>
          <p:cNvPr id="47" name="PAID ENROLMENTS value"/>
          <p:cNvSpPr txBox="1"/>
          <p:nvPr/>
        </p:nvSpPr>
        <p:spPr>
          <a:xfrm>
            <a:off x="9944100" y="2095500"/>
            <a:ext cx="14859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504</a:t>
            </a:r>
          </a:p>
        </p:txBody>
      </p:sp>
      <p:sp>
        <p:nvSpPr>
          <p:cNvPr id="48" name="PAID ENROLMENTS note"/>
          <p:cNvSpPr txBox="1"/>
          <p:nvPr/>
        </p:nvSpPr>
        <p:spPr>
          <a:xfrm>
            <a:off x="9944100" y="2565400"/>
            <a:ext cx="1485900" cy="330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Goal of 500: cleared</a:t>
            </a:r>
          </a:p>
        </p:txBody>
      </p:sp>
      <p:pic>
        <p:nvPicPr>
          <p:cNvPr id="49" name="Pawn red (start of funnel)" descr="pawn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44600"/>
            <a:ext cx="368300" cy="497205"/>
          </a:xfrm>
          <a:prstGeom prst="rect">
            <a:avLst/>
          </a:prstGeom>
        </p:spPr>
      </p:pic>
      <p:pic>
        <p:nvPicPr>
          <p:cNvPr id="50" name="Die" descr="d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1308100"/>
            <a:ext cx="482600" cy="482600"/>
          </a:xfrm>
          <a:prstGeom prst="rect">
            <a:avLst/>
          </a:prstGeom>
        </p:spPr>
      </p:pic>
      <p:sp>
        <p:nvSpPr>
          <p:cNvPr id="51" name="Label: CHANNEL ASSUMPTIONS"/>
          <p:cNvSpPr txBox="1"/>
          <p:nvPr/>
        </p:nvSpPr>
        <p:spPr>
          <a:xfrm>
            <a:off x="609600" y="3149600"/>
            <a:ext cx="762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CHANNEL ASSUMPTIONS</a:t>
            </a:r>
          </a:p>
        </p:txBody>
      </p:sp>
      <p:graphicFrame>
        <p:nvGraphicFramePr>
          <p:cNvPr id="52" name="Channel table"/>
          <p:cNvGraphicFramePr>
            <a:graphicFrameLocks noGrp="1"/>
          </p:cNvGraphicFramePr>
          <p:nvPr/>
        </p:nvGraphicFramePr>
        <p:xfrm>
          <a:off x="609600" y="3365500"/>
          <a:ext cx="7493000" cy="24003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02000"/>
                <a:gridCol w="889000"/>
                <a:gridCol w="889000"/>
                <a:gridCol w="952500"/>
                <a:gridCol w="762000"/>
                <a:gridCol w="698500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65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CHANNEL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5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REACH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5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CLICK RATE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5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SIGN-UP RATE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5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PAY RATE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5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PAID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Instagram paid ads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2,00,000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1.2%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8%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Organic posts and student creators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80,000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1.5%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78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Campus ambassadors (40 colleges, WhatsApp groups)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20,000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8%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75%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144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Competition platforms (e.g. Unstop) and club emails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30,000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4%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12%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70%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101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Referrals (15% of payers bring one friend)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–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Total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3,30,000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6,400 clicks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648 sign-ups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504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3" name="Fee mix card"/>
          <p:cNvSpPr/>
          <p:nvPr/>
        </p:nvSpPr>
        <p:spPr>
          <a:xfrm>
            <a:off x="8483600" y="3149600"/>
            <a:ext cx="30988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DEDB"/>
            </a:solidFill>
          </a:ln>
        </p:spPr>
        <p:txBody>
          <a:bodyPr rtlCol="0" anchor="ctr"/>
          <a:lstStyle/>
          <a:p/>
        </p:txBody>
      </p:sp>
      <p:sp>
        <p:nvSpPr>
          <p:cNvPr id="54" name="Fee mix label"/>
          <p:cNvSpPr txBox="1"/>
          <p:nvPr/>
        </p:nvSpPr>
        <p:spPr>
          <a:xfrm>
            <a:off x="8648700" y="3276600"/>
            <a:ext cx="2794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FEE MIX OF THE 504</a:t>
            </a:r>
          </a:p>
        </p:txBody>
      </p:sp>
      <p:sp>
        <p:nvSpPr>
          <p:cNvPr id="55" name="Fee mix bar: Early bird"/>
          <p:cNvSpPr/>
          <p:nvPr/>
        </p:nvSpPr>
        <p:spPr>
          <a:xfrm>
            <a:off x="8648700" y="3543300"/>
            <a:ext cx="823988" cy="2540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Fee mix bar: Regular"/>
          <p:cNvSpPr/>
          <p:nvPr/>
        </p:nvSpPr>
        <p:spPr>
          <a:xfrm>
            <a:off x="9472688" y="3543300"/>
            <a:ext cx="1582057" cy="254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Fee mix bar: Referred"/>
          <p:cNvSpPr/>
          <p:nvPr/>
        </p:nvSpPr>
        <p:spPr>
          <a:xfrm>
            <a:off x="11054745" y="3543300"/>
            <a:ext cx="362555" cy="254000"/>
          </a:xfrm>
          <a:prstGeom prst="rect">
            <a:avLst/>
          </a:prstGeom>
          <a:solidFill>
            <a:srgbClr val="E235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Fee mix key: Early bird"/>
          <p:cNvSpPr/>
          <p:nvPr/>
        </p:nvSpPr>
        <p:spPr>
          <a:xfrm>
            <a:off x="8648700" y="3949700"/>
            <a:ext cx="139700" cy="139700"/>
          </a:xfrm>
          <a:prstGeom prst="roundRect">
            <a:avLst>
              <a:gd name="adj" fmla="val 18181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Fee mix name: Early bird"/>
          <p:cNvSpPr txBox="1"/>
          <p:nvPr/>
        </p:nvSpPr>
        <p:spPr>
          <a:xfrm>
            <a:off x="8877300" y="38989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Early bird</a:t>
            </a:r>
          </a:p>
        </p:txBody>
      </p:sp>
      <p:sp>
        <p:nvSpPr>
          <p:cNvPr id="60" name="Fee mix value: Early bird"/>
          <p:cNvSpPr txBox="1"/>
          <p:nvPr/>
        </p:nvSpPr>
        <p:spPr>
          <a:xfrm>
            <a:off x="10096500" y="3898900"/>
            <a:ext cx="132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150 × </a:t>
            </a:r>
            <a:r>
              <a:rPr sz="105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0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249</a:t>
            </a:r>
          </a:p>
        </p:txBody>
      </p:sp>
      <p:sp>
        <p:nvSpPr>
          <p:cNvPr id="61" name="Fee mix key: Regular"/>
          <p:cNvSpPr/>
          <p:nvPr/>
        </p:nvSpPr>
        <p:spPr>
          <a:xfrm>
            <a:off x="8648700" y="4279900"/>
            <a:ext cx="139700" cy="139700"/>
          </a:xfrm>
          <a:prstGeom prst="roundRect">
            <a:avLst>
              <a:gd name="adj" fmla="val 18181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Fee mix name: Regular"/>
          <p:cNvSpPr txBox="1"/>
          <p:nvPr/>
        </p:nvSpPr>
        <p:spPr>
          <a:xfrm>
            <a:off x="8877300" y="42291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Regular</a:t>
            </a:r>
          </a:p>
        </p:txBody>
      </p:sp>
      <p:sp>
        <p:nvSpPr>
          <p:cNvPr id="63" name="Fee mix value: Regular"/>
          <p:cNvSpPr txBox="1"/>
          <p:nvPr/>
        </p:nvSpPr>
        <p:spPr>
          <a:xfrm>
            <a:off x="10096500" y="4229100"/>
            <a:ext cx="132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288 × </a:t>
            </a:r>
            <a:r>
              <a:rPr sz="105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0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299</a:t>
            </a:r>
          </a:p>
        </p:txBody>
      </p:sp>
      <p:sp>
        <p:nvSpPr>
          <p:cNvPr id="64" name="Fee mix key: Referred"/>
          <p:cNvSpPr/>
          <p:nvPr/>
        </p:nvSpPr>
        <p:spPr>
          <a:xfrm>
            <a:off x="8648700" y="4610100"/>
            <a:ext cx="139700" cy="139700"/>
          </a:xfrm>
          <a:prstGeom prst="roundRect">
            <a:avLst>
              <a:gd name="adj" fmla="val 18181"/>
            </a:avLst>
          </a:prstGeom>
          <a:solidFill>
            <a:srgbClr val="E235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Fee mix name: Referred"/>
          <p:cNvSpPr txBox="1"/>
          <p:nvPr/>
        </p:nvSpPr>
        <p:spPr>
          <a:xfrm>
            <a:off x="8877300" y="455930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Referred</a:t>
            </a:r>
          </a:p>
        </p:txBody>
      </p:sp>
      <p:sp>
        <p:nvSpPr>
          <p:cNvPr id="66" name="Fee mix value: Referred"/>
          <p:cNvSpPr txBox="1"/>
          <p:nvPr/>
        </p:nvSpPr>
        <p:spPr>
          <a:xfrm>
            <a:off x="10096500" y="4559300"/>
            <a:ext cx="1320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66 × </a:t>
            </a:r>
            <a:r>
              <a:rPr sz="1050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0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249</a:t>
            </a:r>
          </a:p>
        </p:txBody>
      </p:sp>
      <p:sp>
        <p:nvSpPr>
          <p:cNvPr id="67" name="Ambassador callout"/>
          <p:cNvSpPr/>
          <p:nvPr/>
        </p:nvSpPr>
        <p:spPr>
          <a:xfrm>
            <a:off x="8483600" y="5156200"/>
            <a:ext cx="3098800" cy="647700"/>
          </a:xfrm>
          <a:prstGeom prst="roundRect">
            <a:avLst>
              <a:gd name="adj" fmla="val 1176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Ambassador callout text"/>
          <p:cNvSpPr txBox="1"/>
          <p:nvPr/>
        </p:nvSpPr>
        <p:spPr>
          <a:xfrm>
            <a:off x="8636000" y="5156200"/>
            <a:ext cx="2819400" cy="647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Ambassadors are the biggest channel: </a:t>
            </a:r>
            <a:r>
              <a:rPr sz="85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144 paid from 20,000 reach, through WhatsApp groups in 40 colleges.</a:t>
            </a:r>
          </a:p>
        </p:txBody>
      </p:sp>
      <p:sp>
        <p:nvSpPr>
          <p:cNvPr id="69" name="Assumptions note"/>
          <p:cNvSpPr txBox="1"/>
          <p:nvPr/>
        </p:nvSpPr>
        <p:spPr>
          <a:xfrm>
            <a:off x="609600" y="5854700"/>
            <a:ext cx="10972800" cy="444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ASSUMPTIONS  </a:t>
            </a: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Click, sign-up and pay rates are planning assumptions per channel; the 5 Nov checkpoint tests them. If fewer than 200 have paid by then, ad spend shifts to the best-performing channel.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§ 09  ·  POSTER · 4 SOCIAL POSTS · STORIES · DIWALI DUO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09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Awareness pieces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PAGE 09 / 12</a:t>
            </a:r>
          </a:p>
        </p:txBody>
      </p:sp>
      <p:pic>
        <p:nvPicPr>
          <p:cNvPr id="14" name="Poster" descr="poster_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35100"/>
            <a:ext cx="1761226" cy="2489200"/>
          </a:xfrm>
          <a:prstGeom prst="rect">
            <a:avLst/>
          </a:prstGeom>
        </p:spPr>
      </p:pic>
      <p:sp>
        <p:nvSpPr>
          <p:cNvPr id="15" name="Poster date pill"/>
          <p:cNvSpPr/>
          <p:nvPr/>
        </p:nvSpPr>
        <p:spPr>
          <a:xfrm>
            <a:off x="609600" y="4000500"/>
            <a:ext cx="1761226" cy="1905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Poster date"/>
          <p:cNvSpPr txBox="1"/>
          <p:nvPr/>
        </p:nvSpPr>
        <p:spPr>
          <a:xfrm>
            <a:off x="609600" y="4000500"/>
            <a:ext cx="1761226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A3 POSTER</a:t>
            </a:r>
          </a:p>
        </p:txBody>
      </p:sp>
      <p:sp>
        <p:nvSpPr>
          <p:cNvPr id="17" name="Poster title"/>
          <p:cNvSpPr txBox="1"/>
          <p:nvPr/>
        </p:nvSpPr>
        <p:spPr>
          <a:xfrm>
            <a:off x="609600" y="4241800"/>
            <a:ext cx="1761226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Poster</a:t>
            </a:r>
          </a:p>
        </p:txBody>
      </p:sp>
      <p:sp>
        <p:nvSpPr>
          <p:cNvPr id="18" name="Poster hook"/>
          <p:cNvSpPr txBox="1"/>
          <p:nvPr/>
        </p:nvSpPr>
        <p:spPr>
          <a:xfrm>
            <a:off x="609600" y="4457700"/>
            <a:ext cx="1761226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Board-game visual, big idea, dates, fee, prize pool and a QR code to register.</a:t>
            </a:r>
          </a:p>
        </p:txBody>
      </p:sp>
      <p:sp>
        <p:nvSpPr>
          <p:cNvPr id="19" name="Poster story"/>
          <p:cNvSpPr txBox="1"/>
          <p:nvPr/>
        </p:nvSpPr>
        <p:spPr>
          <a:xfrm>
            <a:off x="609600" y="4953000"/>
            <a:ext cx="1761226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PRINT · PARTNER CAMPUSES</a:t>
            </a:r>
          </a:p>
        </p:txBody>
      </p:sp>
      <p:pic>
        <p:nvPicPr>
          <p:cNvPr id="20" name="Post 1 · Teaser" descr="post1_teaser_24o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360" y="1435100"/>
            <a:ext cx="1991360" cy="2489200"/>
          </a:xfrm>
          <a:prstGeom prst="rect">
            <a:avLst/>
          </a:prstGeom>
        </p:spPr>
      </p:pic>
      <p:sp>
        <p:nvSpPr>
          <p:cNvPr id="21" name="Post 1 · Teaser date pill"/>
          <p:cNvSpPr/>
          <p:nvPr/>
        </p:nvSpPr>
        <p:spPr>
          <a:xfrm>
            <a:off x="2682360" y="4000500"/>
            <a:ext cx="1991360" cy="1905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Post 1 · Teaser date"/>
          <p:cNvSpPr txBox="1"/>
          <p:nvPr/>
        </p:nvSpPr>
        <p:spPr>
          <a:xfrm>
            <a:off x="2682360" y="4000500"/>
            <a:ext cx="199136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SAT 24 OCT · 7 PM</a:t>
            </a:r>
          </a:p>
        </p:txBody>
      </p:sp>
      <p:sp>
        <p:nvSpPr>
          <p:cNvPr id="23" name="Post 1 · Teaser title"/>
          <p:cNvSpPr txBox="1"/>
          <p:nvPr/>
        </p:nvSpPr>
        <p:spPr>
          <a:xfrm>
            <a:off x="2682360" y="4241800"/>
            <a:ext cx="199136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Post 1 · Teaser</a:t>
            </a:r>
          </a:p>
        </p:txBody>
      </p:sp>
      <p:sp>
        <p:nvSpPr>
          <p:cNvPr id="24" name="Post 1 · Teaser hook"/>
          <p:cNvSpPr txBox="1"/>
          <p:nvPr/>
        </p:nvSpPr>
        <p:spPr>
          <a:xfrm>
            <a:off x="2682360" y="4457700"/>
            <a:ext cx="199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“Your marketing degree, on a board.” Registrations open Monday.</a:t>
            </a:r>
          </a:p>
        </p:txBody>
      </p:sp>
      <p:sp>
        <p:nvSpPr>
          <p:cNvPr id="25" name="Post 1 · Teaser story"/>
          <p:cNvSpPr txBox="1"/>
          <p:nvPr/>
        </p:nvSpPr>
        <p:spPr>
          <a:xfrm>
            <a:off x="2682360" y="4953000"/>
            <a:ext cx="199136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STORY · COUNTDOWN TO 26 OCT</a:t>
            </a:r>
          </a:p>
        </p:txBody>
      </p:sp>
      <p:pic>
        <p:nvPicPr>
          <p:cNvPr id="26" name="Post 2 · Launch" descr="post2_launch_26o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253" y="1435100"/>
            <a:ext cx="1991360" cy="2489200"/>
          </a:xfrm>
          <a:prstGeom prst="rect">
            <a:avLst/>
          </a:prstGeom>
        </p:spPr>
      </p:pic>
      <p:sp>
        <p:nvSpPr>
          <p:cNvPr id="27" name="Post 2 · Launch date pill"/>
          <p:cNvSpPr/>
          <p:nvPr/>
        </p:nvSpPr>
        <p:spPr>
          <a:xfrm>
            <a:off x="4985253" y="4000500"/>
            <a:ext cx="1991360" cy="1905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Post 2 · Launch date"/>
          <p:cNvSpPr txBox="1"/>
          <p:nvPr/>
        </p:nvSpPr>
        <p:spPr>
          <a:xfrm>
            <a:off x="4985253" y="4000500"/>
            <a:ext cx="199136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MON 26 OCT · 6 PM</a:t>
            </a:r>
          </a:p>
        </p:txBody>
      </p:sp>
      <p:sp>
        <p:nvSpPr>
          <p:cNvPr id="29" name="Post 2 · Launch title"/>
          <p:cNvSpPr txBox="1"/>
          <p:nvPr/>
        </p:nvSpPr>
        <p:spPr>
          <a:xfrm>
            <a:off x="4985253" y="4241800"/>
            <a:ext cx="199136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Post 2 · Launch</a:t>
            </a:r>
          </a:p>
        </p:txBody>
      </p:sp>
      <p:sp>
        <p:nvSpPr>
          <p:cNvPr id="30" name="Post 2 · Launch hook"/>
          <p:cNvSpPr txBox="1"/>
          <p:nvPr/>
        </p:nvSpPr>
        <p:spPr>
          <a:xfrm>
            <a:off x="4985253" y="4457700"/>
            <a:ext cx="199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“Registrations are open.” How 3M works in 4 steps + early bird ₹249.</a:t>
            </a:r>
          </a:p>
        </p:txBody>
      </p:sp>
      <p:sp>
        <p:nvSpPr>
          <p:cNvPr id="31" name="Post 2 · Launch story"/>
          <p:cNvSpPr txBox="1"/>
          <p:nvPr/>
        </p:nvSpPr>
        <p:spPr>
          <a:xfrm>
            <a:off x="4985253" y="4953000"/>
            <a:ext cx="199136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STORY · LINK + QUIZ: WHICH P MATTERS MOST TO GEN Z?</a:t>
            </a:r>
          </a:p>
        </p:txBody>
      </p:sp>
      <p:pic>
        <p:nvPicPr>
          <p:cNvPr id="32" name="Post 3 · Pool grew" descr="post3_prizepool_12no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8147" y="1435100"/>
            <a:ext cx="1991360" cy="2489200"/>
          </a:xfrm>
          <a:prstGeom prst="rect">
            <a:avLst/>
          </a:prstGeom>
        </p:spPr>
      </p:pic>
      <p:sp>
        <p:nvSpPr>
          <p:cNvPr id="33" name="Post 3 · Pool grew date pill"/>
          <p:cNvSpPr/>
          <p:nvPr/>
        </p:nvSpPr>
        <p:spPr>
          <a:xfrm>
            <a:off x="7288147" y="4000500"/>
            <a:ext cx="1991360" cy="1905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Post 3 · Pool grew date"/>
          <p:cNvSpPr txBox="1"/>
          <p:nvPr/>
        </p:nvSpPr>
        <p:spPr>
          <a:xfrm>
            <a:off x="7288147" y="4000500"/>
            <a:ext cx="199136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THU 12 NOV · 7 PM</a:t>
            </a:r>
          </a:p>
        </p:txBody>
      </p:sp>
      <p:sp>
        <p:nvSpPr>
          <p:cNvPr id="35" name="Post 3 · Pool grew title"/>
          <p:cNvSpPr txBox="1"/>
          <p:nvPr/>
        </p:nvSpPr>
        <p:spPr>
          <a:xfrm>
            <a:off x="7288147" y="4241800"/>
            <a:ext cx="199136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Post 3 · Pool grew</a:t>
            </a:r>
          </a:p>
        </p:txBody>
      </p:sp>
      <p:sp>
        <p:nvSpPr>
          <p:cNvPr id="36" name="Post 3 · Pool grew hook"/>
          <p:cNvSpPr txBox="1"/>
          <p:nvPr/>
        </p:nvSpPr>
        <p:spPr>
          <a:xfrm>
            <a:off x="7288147" y="4457700"/>
            <a:ext cx="199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“Back on campus after Diwali? The pot got bigger.” ₹20,600 and rising.</a:t>
            </a:r>
          </a:p>
        </p:txBody>
      </p:sp>
      <p:sp>
        <p:nvSpPr>
          <p:cNvPr id="37" name="Post 3 · Pool grew story"/>
          <p:cNvSpPr txBox="1"/>
          <p:nvPr/>
        </p:nvSpPr>
        <p:spPr>
          <a:xfrm>
            <a:off x="7288147" y="4953000"/>
            <a:ext cx="199136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STORY · POLL: WILL WE HIT ₹30,000?</a:t>
            </a:r>
          </a:p>
        </p:txBody>
      </p:sp>
      <p:pic>
        <p:nvPicPr>
          <p:cNvPr id="38" name="Post 4 · Last call" descr="post4_lastcall_20no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1040" y="1435100"/>
            <a:ext cx="1991360" cy="2489200"/>
          </a:xfrm>
          <a:prstGeom prst="rect">
            <a:avLst/>
          </a:prstGeom>
        </p:spPr>
      </p:pic>
      <p:sp>
        <p:nvSpPr>
          <p:cNvPr id="39" name="Post 4 · Last call date pill"/>
          <p:cNvSpPr/>
          <p:nvPr/>
        </p:nvSpPr>
        <p:spPr>
          <a:xfrm>
            <a:off x="9591040" y="4000500"/>
            <a:ext cx="1991360" cy="190500"/>
          </a:xfrm>
          <a:prstGeom prst="roundRect">
            <a:avLst>
              <a:gd name="adj" fmla="val 2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Post 4 · Last call date"/>
          <p:cNvSpPr txBox="1"/>
          <p:nvPr/>
        </p:nvSpPr>
        <p:spPr>
          <a:xfrm>
            <a:off x="9591040" y="4000500"/>
            <a:ext cx="199136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FRI 20 NOV · 6 PM</a:t>
            </a:r>
          </a:p>
        </p:txBody>
      </p:sp>
      <p:sp>
        <p:nvSpPr>
          <p:cNvPr id="41" name="Post 4 · Last call title"/>
          <p:cNvSpPr txBox="1"/>
          <p:nvPr/>
        </p:nvSpPr>
        <p:spPr>
          <a:xfrm>
            <a:off x="9591040" y="4241800"/>
            <a:ext cx="199136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Post 4 · Last call</a:t>
            </a:r>
          </a:p>
        </p:txBody>
      </p:sp>
      <p:sp>
        <p:nvSpPr>
          <p:cNvPr id="42" name="Post 4 · Last call hook"/>
          <p:cNvSpPr txBox="1"/>
          <p:nvPr/>
        </p:nvSpPr>
        <p:spPr>
          <a:xfrm>
            <a:off x="9591040" y="4457700"/>
            <a:ext cx="1991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“2 days left.” Closes Sun 22 Nov, 11:59 PM.</a:t>
            </a:r>
          </a:p>
        </p:txBody>
      </p:sp>
      <p:sp>
        <p:nvSpPr>
          <p:cNvPr id="43" name="Post 4 · Last call story"/>
          <p:cNvSpPr txBox="1"/>
          <p:nvPr/>
        </p:nvSpPr>
        <p:spPr>
          <a:xfrm>
            <a:off x="9591040" y="4953000"/>
            <a:ext cx="199136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00" b="1" i="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STORY · COUNTDOWN TO 22 NOV + LINK</a:t>
            </a:r>
          </a:p>
        </p:txBody>
      </p:sp>
      <p:sp>
        <p:nvSpPr>
          <p:cNvPr id="44" name="Diwali Duo card"/>
          <p:cNvSpPr/>
          <p:nvPr/>
        </p:nvSpPr>
        <p:spPr>
          <a:xfrm>
            <a:off x="609600" y="53467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Diwali Duo tag"/>
          <p:cNvSpPr txBox="1"/>
          <p:nvPr/>
        </p:nvSpPr>
        <p:spPr>
          <a:xfrm>
            <a:off x="774700" y="5435600"/>
            <a:ext cx="3175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REFERRAL PUSH · 6–11 NOV</a:t>
            </a:r>
          </a:p>
        </p:txBody>
      </p:sp>
      <p:sp>
        <p:nvSpPr>
          <p:cNvPr id="46" name="Diwali Duo mark"/>
          <p:cNvSpPr txBox="1"/>
          <p:nvPr/>
        </p:nvSpPr>
        <p:spPr>
          <a:xfrm>
            <a:off x="5016500" y="5422900"/>
            <a:ext cx="635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3M</a:t>
            </a:r>
          </a:p>
        </p:txBody>
      </p:sp>
      <p:sp>
        <p:nvSpPr>
          <p:cNvPr id="47" name="Diwali Duo icon tile"/>
          <p:cNvSpPr/>
          <p:nvPr/>
        </p:nvSpPr>
        <p:spPr>
          <a:xfrm>
            <a:off x="774700" y="5664200"/>
            <a:ext cx="558800" cy="558800"/>
          </a:xfrm>
          <a:prstGeom prst="roundRect">
            <a:avLst>
              <a:gd name="adj" fmla="val 13636"/>
            </a:avLst>
          </a:prstGeom>
          <a:solidFill>
            <a:srgbClr val="8E121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8" name="Duo pawn 1" descr="paw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900" y="5727700"/>
            <a:ext cx="228600" cy="308610"/>
          </a:xfrm>
          <a:prstGeom prst="rect">
            <a:avLst/>
          </a:prstGeom>
        </p:spPr>
      </p:pic>
      <p:pic>
        <p:nvPicPr>
          <p:cNvPr id="49" name="Duo pawn 2" descr="pawn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100" y="5778500"/>
            <a:ext cx="215900" cy="291465"/>
          </a:xfrm>
          <a:prstGeom prst="rect">
            <a:avLst/>
          </a:prstGeom>
        </p:spPr>
      </p:pic>
      <p:sp>
        <p:nvSpPr>
          <p:cNvPr id="50" name="Diwali Duo title"/>
          <p:cNvSpPr txBox="1"/>
          <p:nvPr/>
        </p:nvSpPr>
        <p:spPr>
          <a:xfrm>
            <a:off x="1460500" y="5613400"/>
            <a:ext cx="4254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Diwali Duo: “Gift a friend a seat at the table.”</a:t>
            </a:r>
          </a:p>
        </p:txBody>
      </p:sp>
      <p:sp>
        <p:nvSpPr>
          <p:cNvPr id="51" name="Diwali Duo text"/>
          <p:cNvSpPr txBox="1"/>
          <p:nvPr/>
        </p:nvSpPr>
        <p:spPr>
          <a:xfrm>
            <a:off x="1460500" y="5892800"/>
            <a:ext cx="42545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Stories and WhatsApp while campuses are on break. Your friend pays ₹249 with your referral code.</a:t>
            </a:r>
          </a:p>
        </p:txBody>
      </p:sp>
      <p:sp>
        <p:nvSpPr>
          <p:cNvPr id="52" name="Hashtags card"/>
          <p:cNvSpPr/>
          <p:nvPr/>
        </p:nvSpPr>
        <p:spPr>
          <a:xfrm>
            <a:off x="5969000" y="5346700"/>
            <a:ext cx="5613400" cy="101600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53" name="Hashtags label"/>
          <p:cNvSpPr txBox="1"/>
          <p:nvPr/>
        </p:nvSpPr>
        <p:spPr>
          <a:xfrm>
            <a:off x="6134100" y="5448300"/>
            <a:ext cx="52705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HASHTAGS &amp; FORMAT</a:t>
            </a:r>
          </a:p>
        </p:txBody>
      </p:sp>
      <p:sp>
        <p:nvSpPr>
          <p:cNvPr id="54" name="Hashtags"/>
          <p:cNvSpPr txBox="1"/>
          <p:nvPr/>
        </p:nvSpPr>
        <p:spPr>
          <a:xfrm>
            <a:off x="6134100" y="5638800"/>
            <a:ext cx="5270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#3MChampionship  #MasteringMarketingAtMICA  #MICA  #MarketingStudents  #MBA  #BBA  #BSchool  #CaseCompetition  #PrizePool  #LastCall</a:t>
            </a:r>
          </a:p>
        </p:txBody>
      </p:sp>
      <p:sp>
        <p:nvSpPr>
          <p:cNvPr id="55" name="Format note"/>
          <p:cNvSpPr txBox="1"/>
          <p:nvPr/>
        </p:nvSpPr>
        <p:spPr>
          <a:xfrm>
            <a:off x="6134100" y="6019800"/>
            <a:ext cx="52705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1080 × 1350 feed posts from the tournament handle, collab-posted with MICA and partner marketing clubs.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10  ·  LANDING PAGE · WHATSAPP SEQUENCE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10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Conversion pieces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10 / 12</a:t>
            </a:r>
          </a:p>
        </p:txBody>
      </p:sp>
      <p:sp>
        <p:nvSpPr>
          <p:cNvPr id="14" name="Laptop frame"/>
          <p:cNvSpPr/>
          <p:nvPr/>
        </p:nvSpPr>
        <p:spPr>
          <a:xfrm>
            <a:off x="609600" y="1460500"/>
            <a:ext cx="5207000" cy="3479800"/>
          </a:xfrm>
          <a:prstGeom prst="roundRect">
            <a:avLst>
              <a:gd name="adj" fmla="val 3284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Browser dot"/>
          <p:cNvSpPr/>
          <p:nvPr/>
        </p:nvSpPr>
        <p:spPr>
          <a:xfrm>
            <a:off x="749300" y="1549400"/>
            <a:ext cx="76200" cy="76200"/>
          </a:xfrm>
          <a:prstGeom prst="ellipse">
            <a:avLst/>
          </a:prstGeom>
          <a:solidFill>
            <a:srgbClr val="E235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Browser dot"/>
          <p:cNvSpPr/>
          <p:nvPr/>
        </p:nvSpPr>
        <p:spPr>
          <a:xfrm>
            <a:off x="889000" y="1549400"/>
            <a:ext cx="76200" cy="76200"/>
          </a:xfrm>
          <a:prstGeom prst="ellipse">
            <a:avLst/>
          </a:prstGeom>
          <a:solidFill>
            <a:srgbClr val="F2B23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Browser dot"/>
          <p:cNvSpPr/>
          <p:nvPr/>
        </p:nvSpPr>
        <p:spPr>
          <a:xfrm>
            <a:off x="1028700" y="1549400"/>
            <a:ext cx="76200" cy="76200"/>
          </a:xfrm>
          <a:prstGeom prst="ellipse">
            <a:avLst/>
          </a:prstGeom>
          <a:solidFill>
            <a:srgbClr val="3BB27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Browser address bar"/>
          <p:cNvSpPr/>
          <p:nvPr/>
        </p:nvSpPr>
        <p:spPr>
          <a:xfrm>
            <a:off x="1244600" y="1524000"/>
            <a:ext cx="3556000" cy="139700"/>
          </a:xfrm>
          <a:prstGeom prst="roundRect">
            <a:avLst>
              <a:gd name="adj" fmla="val 50000"/>
            </a:avLst>
          </a:prstGeom>
          <a:solidFill>
            <a:srgbClr val="2C2C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Browser address"/>
          <p:cNvSpPr txBox="1"/>
          <p:nvPr/>
        </p:nvSpPr>
        <p:spPr>
          <a:xfrm>
            <a:off x="1333500" y="1524000"/>
            <a:ext cx="3429000" cy="139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550" b="0" i="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landing page mock-up</a:t>
            </a:r>
          </a:p>
        </p:txBody>
      </p:sp>
      <p:pic>
        <p:nvPicPr>
          <p:cNvPr id="20" name="Landing page (desktop)" descr="landing_desktop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27200"/>
            <a:ext cx="5054600" cy="3159125"/>
          </a:xfrm>
          <a:prstGeom prst="rect">
            <a:avLst/>
          </a:prstGeom>
        </p:spPr>
      </p:pic>
      <p:sp>
        <p:nvSpPr>
          <p:cNvPr id="21" name="Laptop base"/>
          <p:cNvSpPr/>
          <p:nvPr/>
        </p:nvSpPr>
        <p:spPr>
          <a:xfrm>
            <a:off x="444500" y="4940300"/>
            <a:ext cx="5537200" cy="127000"/>
          </a:xfrm>
          <a:prstGeom prst="roundRect">
            <a:avLst>
              <a:gd name="adj" fmla="val 50000"/>
            </a:avLst>
          </a:prstGeom>
          <a:solidFill>
            <a:srgbClr val="2C2C2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Phone frame"/>
          <p:cNvSpPr/>
          <p:nvPr/>
        </p:nvSpPr>
        <p:spPr>
          <a:xfrm>
            <a:off x="6159500" y="1587500"/>
            <a:ext cx="1638300" cy="3352800"/>
          </a:xfrm>
          <a:prstGeom prst="roundRect">
            <a:avLst>
              <a:gd name="adj" fmla="val 13953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3" name="Landing page (mobile)" descr="landing_mobile_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1676400"/>
            <a:ext cx="1485900" cy="3215640"/>
          </a:xfrm>
          <a:prstGeom prst="rect">
            <a:avLst/>
          </a:prstGeom>
        </p:spPr>
      </p:pic>
      <p:sp>
        <p:nvSpPr>
          <p:cNvPr id="24" name="Phone notch"/>
          <p:cNvSpPr/>
          <p:nvPr/>
        </p:nvSpPr>
        <p:spPr>
          <a:xfrm>
            <a:off x="6756400" y="1625600"/>
            <a:ext cx="444500" cy="88900"/>
          </a:xfrm>
          <a:prstGeom prst="roundRect">
            <a:avLst>
              <a:gd name="adj" fmla="val 50000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Label: WHAT THE LANDING PAGE DO"/>
          <p:cNvSpPr txBox="1"/>
          <p:nvPr/>
        </p:nvSpPr>
        <p:spPr>
          <a:xfrm>
            <a:off x="609600" y="5194300"/>
            <a:ext cx="73025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WHAT THE LANDING PAGE DOES</a:t>
            </a:r>
          </a:p>
        </p:txBody>
      </p:sp>
      <p:sp>
        <p:nvSpPr>
          <p:cNvPr id="26" name="Landing callout 1"/>
          <p:cNvSpPr/>
          <p:nvPr/>
        </p:nvSpPr>
        <p:spPr>
          <a:xfrm>
            <a:off x="609600" y="54229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Callout 1 number"/>
          <p:cNvSpPr txBox="1"/>
          <p:nvPr/>
        </p:nvSpPr>
        <p:spPr>
          <a:xfrm>
            <a:off x="609600" y="54229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</a:t>
            </a:r>
          </a:p>
        </p:txBody>
      </p:sp>
      <p:sp>
        <p:nvSpPr>
          <p:cNvPr id="28" name="Landing feature 1"/>
          <p:cNvSpPr txBox="1"/>
          <p:nvPr/>
        </p:nvSpPr>
        <p:spPr>
          <a:xfrm>
            <a:off x="876300" y="54102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Hero + “Register for ₹299” button</a:t>
            </a:r>
          </a:p>
        </p:txBody>
      </p:sp>
      <p:sp>
        <p:nvSpPr>
          <p:cNvPr id="29" name="Landing callout 2"/>
          <p:cNvSpPr/>
          <p:nvPr/>
        </p:nvSpPr>
        <p:spPr>
          <a:xfrm>
            <a:off x="609600" y="56515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Callout 2 number"/>
          <p:cNvSpPr txBox="1"/>
          <p:nvPr/>
        </p:nvSpPr>
        <p:spPr>
          <a:xfrm>
            <a:off x="609600" y="5651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2</a:t>
            </a:r>
          </a:p>
        </p:txBody>
      </p:sp>
      <p:sp>
        <p:nvSpPr>
          <p:cNvPr id="31" name="Landing feature 2"/>
          <p:cNvSpPr txBox="1"/>
          <p:nvPr/>
        </p:nvSpPr>
        <p:spPr>
          <a:xfrm>
            <a:off x="876300" y="56388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Live prize-pool counter + countdown</a:t>
            </a:r>
          </a:p>
        </p:txBody>
      </p:sp>
      <p:sp>
        <p:nvSpPr>
          <p:cNvPr id="32" name="Landing callout 3"/>
          <p:cNvSpPr/>
          <p:nvPr/>
        </p:nvSpPr>
        <p:spPr>
          <a:xfrm>
            <a:off x="609600" y="58801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Callout 3 number"/>
          <p:cNvSpPr txBox="1"/>
          <p:nvPr/>
        </p:nvSpPr>
        <p:spPr>
          <a:xfrm>
            <a:off x="609600" y="58801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</a:t>
            </a:r>
          </a:p>
        </p:txBody>
      </p:sp>
      <p:sp>
        <p:nvSpPr>
          <p:cNvPr id="34" name="Landing feature 3"/>
          <p:cNvSpPr txBox="1"/>
          <p:nvPr/>
        </p:nvSpPr>
        <p:spPr>
          <a:xfrm>
            <a:off x="876300" y="58674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Why play: cash, 75 min, CV</a:t>
            </a:r>
          </a:p>
        </p:txBody>
      </p:sp>
      <p:sp>
        <p:nvSpPr>
          <p:cNvPr id="35" name="Landing callout 4"/>
          <p:cNvSpPr/>
          <p:nvPr/>
        </p:nvSpPr>
        <p:spPr>
          <a:xfrm>
            <a:off x="609600" y="61087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Callout 4 number"/>
          <p:cNvSpPr txBox="1"/>
          <p:nvPr/>
        </p:nvSpPr>
        <p:spPr>
          <a:xfrm>
            <a:off x="609600" y="61087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4</a:t>
            </a:r>
          </a:p>
        </p:txBody>
      </p:sp>
      <p:sp>
        <p:nvSpPr>
          <p:cNvPr id="37" name="Landing feature 4"/>
          <p:cNvSpPr txBox="1"/>
          <p:nvPr/>
        </p:nvSpPr>
        <p:spPr>
          <a:xfrm>
            <a:off x="876300" y="60960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How to play + click-the-dice game</a:t>
            </a:r>
          </a:p>
        </p:txBody>
      </p:sp>
      <p:sp>
        <p:nvSpPr>
          <p:cNvPr id="38" name="Landing callout 5"/>
          <p:cNvSpPr/>
          <p:nvPr/>
        </p:nvSpPr>
        <p:spPr>
          <a:xfrm>
            <a:off x="4292600" y="54229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Callout 5 number"/>
          <p:cNvSpPr txBox="1"/>
          <p:nvPr/>
        </p:nvSpPr>
        <p:spPr>
          <a:xfrm>
            <a:off x="4292600" y="54229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</a:t>
            </a:r>
          </a:p>
        </p:txBody>
      </p:sp>
      <p:sp>
        <p:nvSpPr>
          <p:cNvPr id="40" name="Landing feature 5"/>
          <p:cNvSpPr txBox="1"/>
          <p:nvPr/>
        </p:nvSpPr>
        <p:spPr>
          <a:xfrm>
            <a:off x="4559300" y="54102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Format + city and slot picker</a:t>
            </a:r>
          </a:p>
        </p:txBody>
      </p:sp>
      <p:sp>
        <p:nvSpPr>
          <p:cNvPr id="41" name="Landing callout 6"/>
          <p:cNvSpPr/>
          <p:nvPr/>
        </p:nvSpPr>
        <p:spPr>
          <a:xfrm>
            <a:off x="4292600" y="56515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Callout 6 number"/>
          <p:cNvSpPr txBox="1"/>
          <p:nvPr/>
        </p:nvSpPr>
        <p:spPr>
          <a:xfrm>
            <a:off x="4292600" y="56515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6</a:t>
            </a:r>
          </a:p>
        </p:txBody>
      </p:sp>
      <p:sp>
        <p:nvSpPr>
          <p:cNvPr id="43" name="Landing feature 6"/>
          <p:cNvSpPr txBox="1"/>
          <p:nvPr/>
        </p:nvSpPr>
        <p:spPr>
          <a:xfrm>
            <a:off x="4559300" y="56388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Prize calculator slider</a:t>
            </a:r>
          </a:p>
        </p:txBody>
      </p:sp>
      <p:sp>
        <p:nvSpPr>
          <p:cNvPr id="44" name="Landing callout 7"/>
          <p:cNvSpPr/>
          <p:nvPr/>
        </p:nvSpPr>
        <p:spPr>
          <a:xfrm>
            <a:off x="4292600" y="58801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Callout 7 number"/>
          <p:cNvSpPr txBox="1"/>
          <p:nvPr/>
        </p:nvSpPr>
        <p:spPr>
          <a:xfrm>
            <a:off x="4292600" y="58801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46" name="Landing feature 7"/>
          <p:cNvSpPr txBox="1"/>
          <p:nvPr/>
        </p:nvSpPr>
        <p:spPr>
          <a:xfrm>
            <a:off x="4559300" y="58674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Pay → player pass + referral code</a:t>
            </a:r>
          </a:p>
        </p:txBody>
      </p:sp>
      <p:sp>
        <p:nvSpPr>
          <p:cNvPr id="47" name="Landing callout 8"/>
          <p:cNvSpPr/>
          <p:nvPr/>
        </p:nvSpPr>
        <p:spPr>
          <a:xfrm>
            <a:off x="4292600" y="6108700"/>
            <a:ext cx="190500" cy="190500"/>
          </a:xfrm>
          <a:prstGeom prst="ellipse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Callout 8 number"/>
          <p:cNvSpPr txBox="1"/>
          <p:nvPr/>
        </p:nvSpPr>
        <p:spPr>
          <a:xfrm>
            <a:off x="4292600" y="61087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7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8</a:t>
            </a:r>
          </a:p>
        </p:txBody>
      </p:sp>
      <p:sp>
        <p:nvSpPr>
          <p:cNvPr id="49" name="Landing feature 8"/>
          <p:cNvSpPr txBox="1"/>
          <p:nvPr/>
        </p:nvSpPr>
        <p:spPr>
          <a:xfrm>
            <a:off x="4559300" y="6096000"/>
            <a:ext cx="3365500" cy="215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FAQ: refunds, TDS, legality, travel</a:t>
            </a:r>
          </a:p>
        </p:txBody>
      </p:sp>
      <p:sp>
        <p:nvSpPr>
          <p:cNvPr id="50" name="WhatsApp chat background"/>
          <p:cNvSpPr/>
          <p:nvPr/>
        </p:nvSpPr>
        <p:spPr>
          <a:xfrm>
            <a:off x="8178800" y="1460500"/>
            <a:ext cx="3403600" cy="4902200"/>
          </a:xfrm>
          <a:prstGeom prst="roundRect">
            <a:avLst>
              <a:gd name="adj" fmla="val 3358"/>
            </a:avLst>
          </a:prstGeom>
          <a:solidFill>
            <a:srgbClr val="ECE5D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WhatsApp header"/>
          <p:cNvSpPr/>
          <p:nvPr/>
        </p:nvSpPr>
        <p:spPr>
          <a:xfrm>
            <a:off x="8178800" y="1460500"/>
            <a:ext cx="3403600" cy="406400"/>
          </a:xfrm>
          <a:prstGeom prst="roundRect">
            <a:avLst>
              <a:gd name="adj" fmla="val 28125"/>
            </a:avLst>
          </a:prstGeom>
          <a:solidFill>
            <a:srgbClr val="075E5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WhatsApp header base"/>
          <p:cNvSpPr/>
          <p:nvPr/>
        </p:nvSpPr>
        <p:spPr>
          <a:xfrm>
            <a:off x="8178800" y="1714500"/>
            <a:ext cx="3403600" cy="152400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3" name="WhatsApp avatar (3M seal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0" y="1511300"/>
            <a:ext cx="304800" cy="304800"/>
          </a:xfrm>
          <a:prstGeom prst="rect">
            <a:avLst/>
          </a:prstGeom>
        </p:spPr>
      </p:pic>
      <p:sp>
        <p:nvSpPr>
          <p:cNvPr id="54" name="WhatsApp sender"/>
          <p:cNvSpPr txBox="1"/>
          <p:nvPr/>
        </p:nvSpPr>
        <p:spPr>
          <a:xfrm>
            <a:off x="8661400" y="1498600"/>
            <a:ext cx="279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3M Championship</a:t>
            </a:r>
          </a:p>
        </p:txBody>
      </p:sp>
      <p:sp>
        <p:nvSpPr>
          <p:cNvPr id="55" name="WhatsApp audience"/>
          <p:cNvSpPr txBox="1"/>
          <p:nvPr/>
        </p:nvSpPr>
        <p:spPr>
          <a:xfrm>
            <a:off x="8661400" y="1676400"/>
            <a:ext cx="279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CDE7E3"/>
                </a:solidFill>
                <a:latin typeface="Space Grotesk"/>
                <a:ea typeface="Space Grotesk"/>
                <a:cs typeface="Space Grotesk"/>
              </a:rPr>
              <a:t>To: signed up, not yet paid</a:t>
            </a:r>
          </a:p>
        </p:txBody>
      </p:sp>
      <p:sp>
        <p:nvSpPr>
          <p:cNvPr id="56" name="WhatsApp message 1 timing"/>
          <p:cNvSpPr txBox="1"/>
          <p:nvPr/>
        </p:nvSpPr>
        <p:spPr>
          <a:xfrm>
            <a:off x="8318500" y="1968500"/>
            <a:ext cx="31115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1" i="0" spc="100">
                <a:solidFill>
                  <a:srgbClr val="54656F"/>
                </a:solidFill>
                <a:latin typeface="Space Mono"/>
                <a:ea typeface="Space Mono"/>
                <a:cs typeface="Space Mono"/>
              </a:rPr>
              <a:t>1 · RIGHT AFTER SIGN-UP</a:t>
            </a:r>
          </a:p>
        </p:txBody>
      </p:sp>
      <p:sp>
        <p:nvSpPr>
          <p:cNvPr id="57" name="WhatsApp bubble 1"/>
          <p:cNvSpPr/>
          <p:nvPr/>
        </p:nvSpPr>
        <p:spPr>
          <a:xfrm>
            <a:off x="8305800" y="2133600"/>
            <a:ext cx="3136900" cy="1003300"/>
          </a:xfrm>
          <a:prstGeom prst="roundRect">
            <a:avLst>
              <a:gd name="adj" fmla="val 759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WhatsApp message 1"/>
          <p:cNvSpPr txBox="1"/>
          <p:nvPr/>
        </p:nvSpPr>
        <p:spPr>
          <a:xfrm>
            <a:off x="8420100" y="2209800"/>
            <a:ext cx="2921000" cy="850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11B21"/>
                </a:solidFill>
                <a:latin typeface="Space Grotesk"/>
                <a:ea typeface="Space Grotesk"/>
                <a:cs typeface="Space Grotesk"/>
              </a:rPr>
              <a:t>Hi {Name}, your seat at the 3M Championship is almost yours. Your {City} qualifier slot ({Sat/Sun}) is on hold. Pay ₹299 to lock it in: {link}</a:t>
            </a:r>
          </a:p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11B21"/>
                </a:solidFill>
                <a:latin typeface="Space Grotesk"/>
                <a:ea typeface="Space Grotesk"/>
                <a:cs typeface="Space Grotesk"/>
              </a:rPr>
              <a:t>Free print-and-play rules + 1-min video: {link}</a:t>
            </a:r>
          </a:p>
        </p:txBody>
      </p:sp>
      <p:sp>
        <p:nvSpPr>
          <p:cNvPr id="59" name="WhatsApp message 2 timing"/>
          <p:cNvSpPr txBox="1"/>
          <p:nvPr/>
        </p:nvSpPr>
        <p:spPr>
          <a:xfrm>
            <a:off x="8318500" y="3263900"/>
            <a:ext cx="31115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1" i="0" spc="100">
                <a:solidFill>
                  <a:srgbClr val="54656F"/>
                </a:solidFill>
                <a:latin typeface="Space Mono"/>
                <a:ea typeface="Space Mono"/>
                <a:cs typeface="Space Mono"/>
              </a:rPr>
              <a:t>2 · TWO DAYS LATER</a:t>
            </a:r>
          </a:p>
        </p:txBody>
      </p:sp>
      <p:sp>
        <p:nvSpPr>
          <p:cNvPr id="60" name="WhatsApp bubble 2"/>
          <p:cNvSpPr/>
          <p:nvPr/>
        </p:nvSpPr>
        <p:spPr>
          <a:xfrm>
            <a:off x="8305800" y="3429000"/>
            <a:ext cx="3136900" cy="8636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WhatsApp message 2"/>
          <p:cNvSpPr txBox="1"/>
          <p:nvPr/>
        </p:nvSpPr>
        <p:spPr>
          <a:xfrm>
            <a:off x="8420100" y="3505200"/>
            <a:ext cx="2921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11B21"/>
                </a:solidFill>
                <a:latin typeface="Space Grotesk"/>
                <a:ea typeface="Space Grotesk"/>
                <a:cs typeface="Space Grotesk"/>
              </a:rPr>
              <a:t>{Name}, 312 players are in and the prize pool is now ₹20,600. It grows ₹50 with every new player, up to ₹30,000, and ₹20,000 is guaranteed. Your {City} seat is still open: {link}</a:t>
            </a:r>
          </a:p>
        </p:txBody>
      </p:sp>
      <p:sp>
        <p:nvSpPr>
          <p:cNvPr id="62" name="WhatsApp message 3 timing"/>
          <p:cNvSpPr txBox="1"/>
          <p:nvPr/>
        </p:nvSpPr>
        <p:spPr>
          <a:xfrm>
            <a:off x="8318500" y="4419600"/>
            <a:ext cx="31115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50" b="1" i="0" spc="100">
                <a:solidFill>
                  <a:srgbClr val="54656F"/>
                </a:solidFill>
                <a:latin typeface="Space Mono"/>
                <a:ea typeface="Space Mono"/>
                <a:cs typeface="Space Mono"/>
              </a:rPr>
              <a:t>3 · SAT 21 NOV · 24 H BEFORE CLOSE</a:t>
            </a:r>
          </a:p>
        </p:txBody>
      </p:sp>
      <p:sp>
        <p:nvSpPr>
          <p:cNvPr id="63" name="WhatsApp bubble 3"/>
          <p:cNvSpPr/>
          <p:nvPr/>
        </p:nvSpPr>
        <p:spPr>
          <a:xfrm>
            <a:off x="8305800" y="4584700"/>
            <a:ext cx="3136900" cy="8636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WhatsApp message 3"/>
          <p:cNvSpPr txBox="1"/>
          <p:nvPr/>
        </p:nvSpPr>
        <p:spPr>
          <a:xfrm>
            <a:off x="8420100" y="4660900"/>
            <a:ext cx="29210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11B21"/>
                </a:solidFill>
                <a:latin typeface="Space Grotesk"/>
                <a:ea typeface="Space Grotesk"/>
                <a:cs typeface="Space Grotesk"/>
              </a:rPr>
              <a:t>Last call, {Name}. Registrations close tomorrow, Sun 22 Nov, at 11:59 PM. After that, your seat goes to someone else. ₹299 · solo entry · 75 min. Pay here: {link}</a:t>
            </a:r>
          </a:p>
        </p:txBody>
      </p:sp>
      <p:sp>
        <p:nvSpPr>
          <p:cNvPr id="65" name="WhatsApp footnote"/>
          <p:cNvSpPr txBox="1"/>
          <p:nvPr/>
        </p:nvSpPr>
        <p:spPr>
          <a:xfrm>
            <a:off x="8318500" y="6007100"/>
            <a:ext cx="3149600" cy="292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0" i="0">
                <a:solidFill>
                  <a:srgbClr val="54656F"/>
                </a:solidFill>
                <a:latin typeface="Space Grotesk"/>
                <a:ea typeface="Space Grotesk"/>
                <a:cs typeface="Space Grotesk"/>
              </a:rPr>
              <a:t>Live player count and pool filled in at send time. Every message ends with “Reply STOP to opt out”.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§ 11  ·  15 OCT → 12 DEC 2026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11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Turn order: campaign timeline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A8A2A0"/>
                </a:solidFill>
                <a:latin typeface="Space Mono"/>
                <a:ea typeface="Space Mono"/>
                <a:cs typeface="Space Mono"/>
              </a:rPr>
              <a:t>PAGE 11 / 12</a:t>
            </a:r>
          </a:p>
        </p:txBody>
      </p:sp>
      <p:sp>
        <p:nvSpPr>
          <p:cNvPr id="14" name="Timeline space 1: Prepare"/>
          <p:cNvSpPr/>
          <p:nvPr/>
        </p:nvSpPr>
        <p:spPr>
          <a:xfrm>
            <a:off x="609600" y="14478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15" name="Timeline strip 1"/>
          <p:cNvSpPr/>
          <p:nvPr/>
        </p:nvSpPr>
        <p:spPr>
          <a:xfrm>
            <a:off x="609600" y="1447800"/>
            <a:ext cx="1739900" cy="101600"/>
          </a:xfrm>
          <a:prstGeom prst="rect">
            <a:avLst/>
          </a:prstGeom>
          <a:solidFill>
            <a:srgbClr val="6B65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imeline number 1"/>
          <p:cNvSpPr/>
          <p:nvPr/>
        </p:nvSpPr>
        <p:spPr>
          <a:xfrm>
            <a:off x="723900" y="16510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Callout 1 number"/>
          <p:cNvSpPr txBox="1"/>
          <p:nvPr/>
        </p:nvSpPr>
        <p:spPr>
          <a:xfrm>
            <a:off x="723900" y="1651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</a:t>
            </a:r>
          </a:p>
        </p:txBody>
      </p:sp>
      <p:sp>
        <p:nvSpPr>
          <p:cNvPr id="18" name="Timeline date 1"/>
          <p:cNvSpPr txBox="1"/>
          <p:nvPr/>
        </p:nvSpPr>
        <p:spPr>
          <a:xfrm>
            <a:off x="1016000" y="16510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15–25 OCT</a:t>
            </a:r>
          </a:p>
        </p:txBody>
      </p:sp>
      <p:sp>
        <p:nvSpPr>
          <p:cNvPr id="19" name="Timeline phase 1"/>
          <p:cNvSpPr txBox="1"/>
          <p:nvPr/>
        </p:nvSpPr>
        <p:spPr>
          <a:xfrm>
            <a:off x="723900" y="19558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Prepare</a:t>
            </a:r>
          </a:p>
        </p:txBody>
      </p:sp>
      <p:sp>
        <p:nvSpPr>
          <p:cNvPr id="20" name="Timeline actions 1"/>
          <p:cNvSpPr txBox="1"/>
          <p:nvPr/>
        </p:nvSpPr>
        <p:spPr>
          <a:xfrm>
            <a:off x="723900" y="22225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Build assets, recruit 40 ambassadors, release print-and-play PDF and 1-min video, confirm venues and exam calendars, order 40 sets, start sponsor outreach.</a:t>
            </a:r>
          </a:p>
        </p:txBody>
      </p:sp>
      <p:sp>
        <p:nvSpPr>
          <p:cNvPr id="21" name="Timeline space 2: Tease"/>
          <p:cNvSpPr/>
          <p:nvPr/>
        </p:nvSpPr>
        <p:spPr>
          <a:xfrm>
            <a:off x="2451100" y="14478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22" name="Timeline strip 2"/>
          <p:cNvSpPr/>
          <p:nvPr/>
        </p:nvSpPr>
        <p:spPr>
          <a:xfrm>
            <a:off x="2451100" y="1447800"/>
            <a:ext cx="1739900" cy="1016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imeline number 2"/>
          <p:cNvSpPr/>
          <p:nvPr/>
        </p:nvSpPr>
        <p:spPr>
          <a:xfrm>
            <a:off x="2565400" y="16510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Callout 2 number"/>
          <p:cNvSpPr txBox="1"/>
          <p:nvPr/>
        </p:nvSpPr>
        <p:spPr>
          <a:xfrm>
            <a:off x="2565400" y="1651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2</a:t>
            </a:r>
          </a:p>
        </p:txBody>
      </p:sp>
      <p:sp>
        <p:nvSpPr>
          <p:cNvPr id="25" name="Timeline date 2"/>
          <p:cNvSpPr txBox="1"/>
          <p:nvPr/>
        </p:nvSpPr>
        <p:spPr>
          <a:xfrm>
            <a:off x="2857500" y="16510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SAT 24 OCT</a:t>
            </a:r>
          </a:p>
        </p:txBody>
      </p:sp>
      <p:sp>
        <p:nvSpPr>
          <p:cNvPr id="26" name="Timeline phase 2"/>
          <p:cNvSpPr txBox="1"/>
          <p:nvPr/>
        </p:nvSpPr>
        <p:spPr>
          <a:xfrm>
            <a:off x="2565400" y="19558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Tease</a:t>
            </a:r>
          </a:p>
        </p:txBody>
      </p:sp>
      <p:sp>
        <p:nvSpPr>
          <p:cNvPr id="27" name="Timeline actions 2"/>
          <p:cNvSpPr txBox="1"/>
          <p:nvPr/>
        </p:nvSpPr>
        <p:spPr>
          <a:xfrm>
            <a:off x="2565400" y="22225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Teaser post (Post 1) with a countdown Story.</a:t>
            </a:r>
          </a:p>
        </p:txBody>
      </p:sp>
      <p:sp>
        <p:nvSpPr>
          <p:cNvPr id="28" name="Post tag 2"/>
          <p:cNvSpPr/>
          <p:nvPr/>
        </p:nvSpPr>
        <p:spPr>
          <a:xfrm>
            <a:off x="3657600" y="2959100"/>
            <a:ext cx="4191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Post tag text 2"/>
          <p:cNvSpPr txBox="1"/>
          <p:nvPr/>
        </p:nvSpPr>
        <p:spPr>
          <a:xfrm>
            <a:off x="3657600" y="2959100"/>
            <a:ext cx="4191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POST</a:t>
            </a:r>
          </a:p>
        </p:txBody>
      </p:sp>
      <p:sp>
        <p:nvSpPr>
          <p:cNvPr id="30" name="Timeline space 3: Launch &amp; early bird"/>
          <p:cNvSpPr/>
          <p:nvPr/>
        </p:nvSpPr>
        <p:spPr>
          <a:xfrm>
            <a:off x="4292600" y="14478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31" name="Timeline strip 3"/>
          <p:cNvSpPr/>
          <p:nvPr/>
        </p:nvSpPr>
        <p:spPr>
          <a:xfrm>
            <a:off x="4292600" y="1447800"/>
            <a:ext cx="1739900" cy="1016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imeline number 3"/>
          <p:cNvSpPr/>
          <p:nvPr/>
        </p:nvSpPr>
        <p:spPr>
          <a:xfrm>
            <a:off x="4406900" y="16510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Callout 3 number"/>
          <p:cNvSpPr txBox="1"/>
          <p:nvPr/>
        </p:nvSpPr>
        <p:spPr>
          <a:xfrm>
            <a:off x="4406900" y="1651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3</a:t>
            </a:r>
          </a:p>
        </p:txBody>
      </p:sp>
      <p:sp>
        <p:nvSpPr>
          <p:cNvPr id="34" name="Timeline date 3"/>
          <p:cNvSpPr txBox="1"/>
          <p:nvPr/>
        </p:nvSpPr>
        <p:spPr>
          <a:xfrm>
            <a:off x="4699000" y="16510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26 OCT – 1 NOV</a:t>
            </a:r>
          </a:p>
        </p:txBody>
      </p:sp>
      <p:sp>
        <p:nvSpPr>
          <p:cNvPr id="35" name="Timeline phase 3"/>
          <p:cNvSpPr txBox="1"/>
          <p:nvPr/>
        </p:nvSpPr>
        <p:spPr>
          <a:xfrm>
            <a:off x="4406900" y="19558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Launch &amp; early bird</a:t>
            </a:r>
          </a:p>
        </p:txBody>
      </p:sp>
      <p:sp>
        <p:nvSpPr>
          <p:cNvPr id="36" name="Timeline actions 3"/>
          <p:cNvSpPr txBox="1"/>
          <p:nvPr/>
        </p:nvSpPr>
        <p:spPr>
          <a:xfrm>
            <a:off x="4406900" y="22225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Launch post (Post 2). Early bird ₹249 for the first 150 players.</a:t>
            </a:r>
          </a:p>
        </p:txBody>
      </p:sp>
      <p:sp>
        <p:nvSpPr>
          <p:cNvPr id="37" name="Post tag 3"/>
          <p:cNvSpPr/>
          <p:nvPr/>
        </p:nvSpPr>
        <p:spPr>
          <a:xfrm>
            <a:off x="5499100" y="2959100"/>
            <a:ext cx="4191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Post tag text 3"/>
          <p:cNvSpPr txBox="1"/>
          <p:nvPr/>
        </p:nvSpPr>
        <p:spPr>
          <a:xfrm>
            <a:off x="5499100" y="2959100"/>
            <a:ext cx="4191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POST</a:t>
            </a:r>
          </a:p>
        </p:txBody>
      </p:sp>
      <p:sp>
        <p:nvSpPr>
          <p:cNvPr id="39" name="Timeline space 4: Push"/>
          <p:cNvSpPr/>
          <p:nvPr/>
        </p:nvSpPr>
        <p:spPr>
          <a:xfrm>
            <a:off x="6134100" y="14478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40" name="Timeline strip 4"/>
          <p:cNvSpPr/>
          <p:nvPr/>
        </p:nvSpPr>
        <p:spPr>
          <a:xfrm>
            <a:off x="6134100" y="1447800"/>
            <a:ext cx="1739900" cy="101600"/>
          </a:xfrm>
          <a:prstGeom prst="rect">
            <a:avLst/>
          </a:prstGeom>
          <a:solidFill>
            <a:srgbClr val="6B65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imeline number 4"/>
          <p:cNvSpPr/>
          <p:nvPr/>
        </p:nvSpPr>
        <p:spPr>
          <a:xfrm>
            <a:off x="6248400" y="16510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Callout 4 number"/>
          <p:cNvSpPr txBox="1"/>
          <p:nvPr/>
        </p:nvSpPr>
        <p:spPr>
          <a:xfrm>
            <a:off x="6248400" y="1651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4</a:t>
            </a:r>
          </a:p>
        </p:txBody>
      </p:sp>
      <p:sp>
        <p:nvSpPr>
          <p:cNvPr id="43" name="Timeline date 4"/>
          <p:cNvSpPr txBox="1"/>
          <p:nvPr/>
        </p:nvSpPr>
        <p:spPr>
          <a:xfrm>
            <a:off x="6540500" y="16510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2–5 NOV</a:t>
            </a:r>
          </a:p>
        </p:txBody>
      </p:sp>
      <p:sp>
        <p:nvSpPr>
          <p:cNvPr id="44" name="Timeline phase 4"/>
          <p:cNvSpPr txBox="1"/>
          <p:nvPr/>
        </p:nvSpPr>
        <p:spPr>
          <a:xfrm>
            <a:off x="6248400" y="19558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Push</a:t>
            </a:r>
          </a:p>
        </p:txBody>
      </p:sp>
      <p:sp>
        <p:nvSpPr>
          <p:cNvPr id="45" name="Timeline actions 4"/>
          <p:cNvSpPr txBox="1"/>
          <p:nvPr/>
        </p:nvSpPr>
        <p:spPr>
          <a:xfrm>
            <a:off x="6248400" y="22225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Ads, creators, ambassador campus drives, practice nights. 5 Nov checkpoint.</a:t>
            </a:r>
          </a:p>
        </p:txBody>
      </p:sp>
      <p:sp>
        <p:nvSpPr>
          <p:cNvPr id="46" name="Timeline space 5: Diwali window"/>
          <p:cNvSpPr/>
          <p:nvPr/>
        </p:nvSpPr>
        <p:spPr>
          <a:xfrm>
            <a:off x="7975600" y="14478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47" name="Timeline strip 5"/>
          <p:cNvSpPr/>
          <p:nvPr/>
        </p:nvSpPr>
        <p:spPr>
          <a:xfrm>
            <a:off x="7975600" y="1447800"/>
            <a:ext cx="1739900" cy="101600"/>
          </a:xfrm>
          <a:prstGeom prst="rect">
            <a:avLst/>
          </a:prstGeom>
          <a:solidFill>
            <a:srgbClr val="6B65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imeline number 5"/>
          <p:cNvSpPr/>
          <p:nvPr/>
        </p:nvSpPr>
        <p:spPr>
          <a:xfrm>
            <a:off x="8089900" y="16510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Callout 5 number"/>
          <p:cNvSpPr txBox="1"/>
          <p:nvPr/>
        </p:nvSpPr>
        <p:spPr>
          <a:xfrm>
            <a:off x="8089900" y="1651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5</a:t>
            </a:r>
          </a:p>
        </p:txBody>
      </p:sp>
      <p:sp>
        <p:nvSpPr>
          <p:cNvPr id="50" name="Timeline date 5"/>
          <p:cNvSpPr txBox="1"/>
          <p:nvPr/>
        </p:nvSpPr>
        <p:spPr>
          <a:xfrm>
            <a:off x="8382000" y="16510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6–11 NOV</a:t>
            </a:r>
          </a:p>
        </p:txBody>
      </p:sp>
      <p:sp>
        <p:nvSpPr>
          <p:cNvPr id="51" name="Timeline phase 5"/>
          <p:cNvSpPr txBox="1"/>
          <p:nvPr/>
        </p:nvSpPr>
        <p:spPr>
          <a:xfrm>
            <a:off x="8089900" y="19558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Diwali window</a:t>
            </a:r>
          </a:p>
        </p:txBody>
      </p:sp>
      <p:sp>
        <p:nvSpPr>
          <p:cNvPr id="52" name="Timeline actions 5"/>
          <p:cNvSpPr txBox="1"/>
          <p:nvPr/>
        </p:nvSpPr>
        <p:spPr>
          <a:xfrm>
            <a:off x="8089900" y="22225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Campus drives pause; ads, creators and the Diwali Duo referral push continue.</a:t>
            </a:r>
          </a:p>
        </p:txBody>
      </p:sp>
      <p:sp>
        <p:nvSpPr>
          <p:cNvPr id="53" name="Timeline space 6: Back-to-campus push"/>
          <p:cNvSpPr/>
          <p:nvPr/>
        </p:nvSpPr>
        <p:spPr>
          <a:xfrm>
            <a:off x="9817100" y="14478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54" name="Timeline strip 6"/>
          <p:cNvSpPr/>
          <p:nvPr/>
        </p:nvSpPr>
        <p:spPr>
          <a:xfrm>
            <a:off x="9817100" y="1447800"/>
            <a:ext cx="1739900" cy="1016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imeline number 6"/>
          <p:cNvSpPr/>
          <p:nvPr/>
        </p:nvSpPr>
        <p:spPr>
          <a:xfrm>
            <a:off x="9931400" y="16510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Callout 6 number"/>
          <p:cNvSpPr txBox="1"/>
          <p:nvPr/>
        </p:nvSpPr>
        <p:spPr>
          <a:xfrm>
            <a:off x="9931400" y="16510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6</a:t>
            </a:r>
          </a:p>
        </p:txBody>
      </p:sp>
      <p:sp>
        <p:nvSpPr>
          <p:cNvPr id="57" name="Timeline date 6"/>
          <p:cNvSpPr txBox="1"/>
          <p:nvPr/>
        </p:nvSpPr>
        <p:spPr>
          <a:xfrm>
            <a:off x="10223500" y="16510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12–15 NOV</a:t>
            </a:r>
          </a:p>
        </p:txBody>
      </p:sp>
      <p:sp>
        <p:nvSpPr>
          <p:cNvPr id="58" name="Timeline phase 6"/>
          <p:cNvSpPr txBox="1"/>
          <p:nvPr/>
        </p:nvSpPr>
        <p:spPr>
          <a:xfrm>
            <a:off x="9931400" y="19558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Back-to-campus push</a:t>
            </a:r>
          </a:p>
        </p:txBody>
      </p:sp>
      <p:sp>
        <p:nvSpPr>
          <p:cNvPr id="59" name="Timeline actions 6"/>
          <p:cNvSpPr txBox="1"/>
          <p:nvPr/>
        </p:nvSpPr>
        <p:spPr>
          <a:xfrm>
            <a:off x="9931400" y="24003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“Prize pool just grew” post (Post 3), practice nights, social proof.</a:t>
            </a:r>
          </a:p>
        </p:txBody>
      </p:sp>
      <p:sp>
        <p:nvSpPr>
          <p:cNvPr id="60" name="Post tag 6"/>
          <p:cNvSpPr/>
          <p:nvPr/>
        </p:nvSpPr>
        <p:spPr>
          <a:xfrm>
            <a:off x="11023600" y="2959100"/>
            <a:ext cx="4191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Post tag text 6"/>
          <p:cNvSpPr txBox="1"/>
          <p:nvPr/>
        </p:nvSpPr>
        <p:spPr>
          <a:xfrm>
            <a:off x="11023600" y="2959100"/>
            <a:ext cx="4191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POST</a:t>
            </a:r>
          </a:p>
        </p:txBody>
      </p:sp>
      <p:sp>
        <p:nvSpPr>
          <p:cNvPr id="62" name="Timeline space 7: Last call"/>
          <p:cNvSpPr/>
          <p:nvPr/>
        </p:nvSpPr>
        <p:spPr>
          <a:xfrm>
            <a:off x="609600" y="33401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63" name="Timeline strip 7"/>
          <p:cNvSpPr/>
          <p:nvPr/>
        </p:nvSpPr>
        <p:spPr>
          <a:xfrm>
            <a:off x="609600" y="3340100"/>
            <a:ext cx="1739900" cy="101600"/>
          </a:xfrm>
          <a:prstGeom prst="rect">
            <a:avLst/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imeline number 7"/>
          <p:cNvSpPr/>
          <p:nvPr/>
        </p:nvSpPr>
        <p:spPr>
          <a:xfrm>
            <a:off x="723900" y="35433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5" name="Callout 7 number"/>
          <p:cNvSpPr txBox="1"/>
          <p:nvPr/>
        </p:nvSpPr>
        <p:spPr>
          <a:xfrm>
            <a:off x="723900" y="35433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7</a:t>
            </a:r>
          </a:p>
        </p:txBody>
      </p:sp>
      <p:sp>
        <p:nvSpPr>
          <p:cNvPr id="66" name="Timeline date 7"/>
          <p:cNvSpPr txBox="1"/>
          <p:nvPr/>
        </p:nvSpPr>
        <p:spPr>
          <a:xfrm>
            <a:off x="1016000" y="35433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16–22 NOV</a:t>
            </a:r>
          </a:p>
        </p:txBody>
      </p:sp>
      <p:sp>
        <p:nvSpPr>
          <p:cNvPr id="67" name="Timeline phase 7"/>
          <p:cNvSpPr txBox="1"/>
          <p:nvPr/>
        </p:nvSpPr>
        <p:spPr>
          <a:xfrm>
            <a:off x="723900" y="38481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Last call</a:t>
            </a:r>
          </a:p>
        </p:txBody>
      </p:sp>
      <p:sp>
        <p:nvSpPr>
          <p:cNvPr id="68" name="Timeline actions 7"/>
          <p:cNvSpPr txBox="1"/>
          <p:nvPr/>
        </p:nvSpPr>
        <p:spPr>
          <a:xfrm>
            <a:off x="723900" y="41148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Urgency push, last-call post (Post 4, 20 Nov) and WhatsApp. Closes Sun 22 Nov, 11:59 PM.</a:t>
            </a:r>
          </a:p>
        </p:txBody>
      </p:sp>
      <p:sp>
        <p:nvSpPr>
          <p:cNvPr id="69" name="Post tag 7"/>
          <p:cNvSpPr/>
          <p:nvPr/>
        </p:nvSpPr>
        <p:spPr>
          <a:xfrm>
            <a:off x="1816100" y="4851400"/>
            <a:ext cx="4191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Post tag text 7"/>
          <p:cNvSpPr txBox="1"/>
          <p:nvPr/>
        </p:nvSpPr>
        <p:spPr>
          <a:xfrm>
            <a:off x="1816100" y="4851400"/>
            <a:ext cx="4191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POST</a:t>
            </a:r>
          </a:p>
        </p:txBody>
      </p:sp>
      <p:sp>
        <p:nvSpPr>
          <p:cNvPr id="71" name="Timeline space 8: Logistics"/>
          <p:cNvSpPr/>
          <p:nvPr/>
        </p:nvSpPr>
        <p:spPr>
          <a:xfrm>
            <a:off x="2451100" y="33401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72" name="Timeline strip 8"/>
          <p:cNvSpPr/>
          <p:nvPr/>
        </p:nvSpPr>
        <p:spPr>
          <a:xfrm>
            <a:off x="2451100" y="3340100"/>
            <a:ext cx="1739900" cy="101600"/>
          </a:xfrm>
          <a:prstGeom prst="rect">
            <a:avLst/>
          </a:prstGeom>
          <a:solidFill>
            <a:srgbClr val="6B656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3" name="Timeline number 8"/>
          <p:cNvSpPr/>
          <p:nvPr/>
        </p:nvSpPr>
        <p:spPr>
          <a:xfrm>
            <a:off x="2565400" y="35433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4" name="Callout 8 number"/>
          <p:cNvSpPr txBox="1"/>
          <p:nvPr/>
        </p:nvSpPr>
        <p:spPr>
          <a:xfrm>
            <a:off x="2565400" y="35433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8</a:t>
            </a:r>
          </a:p>
        </p:txBody>
      </p:sp>
      <p:sp>
        <p:nvSpPr>
          <p:cNvPr id="75" name="Timeline date 8"/>
          <p:cNvSpPr txBox="1"/>
          <p:nvPr/>
        </p:nvSpPr>
        <p:spPr>
          <a:xfrm>
            <a:off x="2857500" y="35433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23–27 NOV</a:t>
            </a:r>
          </a:p>
        </p:txBody>
      </p:sp>
      <p:sp>
        <p:nvSpPr>
          <p:cNvPr id="76" name="Timeline phase 8"/>
          <p:cNvSpPr txBox="1"/>
          <p:nvPr/>
        </p:nvSpPr>
        <p:spPr>
          <a:xfrm>
            <a:off x="2565400" y="38481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Logistics</a:t>
            </a:r>
          </a:p>
        </p:txBody>
      </p:sp>
      <p:sp>
        <p:nvSpPr>
          <p:cNvPr id="77" name="Timeline actions 8"/>
          <p:cNvSpPr txBox="1"/>
          <p:nvPr/>
        </p:nvSpPr>
        <p:spPr>
          <a:xfrm>
            <a:off x="2565400" y="41148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Confirm slots, announce finalist seats (23 Nov), ship sets to Delhi.</a:t>
            </a:r>
          </a:p>
        </p:txBody>
      </p:sp>
      <p:sp>
        <p:nvSpPr>
          <p:cNvPr id="78" name="Timeline space 9: Qualifiers · wk 1"/>
          <p:cNvSpPr/>
          <p:nvPr/>
        </p:nvSpPr>
        <p:spPr>
          <a:xfrm>
            <a:off x="4292600" y="33401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79" name="Timeline strip 9"/>
          <p:cNvSpPr/>
          <p:nvPr/>
        </p:nvSpPr>
        <p:spPr>
          <a:xfrm>
            <a:off x="4292600" y="3340100"/>
            <a:ext cx="1739900" cy="101600"/>
          </a:xfrm>
          <a:prstGeom prst="rect">
            <a:avLst/>
          </a:prstGeom>
          <a:solidFill>
            <a:srgbClr val="E235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0" name="Timeline number 9"/>
          <p:cNvSpPr/>
          <p:nvPr/>
        </p:nvSpPr>
        <p:spPr>
          <a:xfrm>
            <a:off x="4406900" y="35433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1" name="Callout 9 number"/>
          <p:cNvSpPr txBox="1"/>
          <p:nvPr/>
        </p:nvSpPr>
        <p:spPr>
          <a:xfrm>
            <a:off x="4406900" y="35433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9</a:t>
            </a:r>
          </a:p>
        </p:txBody>
      </p:sp>
      <p:sp>
        <p:nvSpPr>
          <p:cNvPr id="82" name="Timeline date 9"/>
          <p:cNvSpPr txBox="1"/>
          <p:nvPr/>
        </p:nvSpPr>
        <p:spPr>
          <a:xfrm>
            <a:off x="4699000" y="35433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28–29 NOV</a:t>
            </a:r>
          </a:p>
        </p:txBody>
      </p:sp>
      <p:sp>
        <p:nvSpPr>
          <p:cNvPr id="83" name="Timeline phase 9"/>
          <p:cNvSpPr txBox="1"/>
          <p:nvPr/>
        </p:nvSpPr>
        <p:spPr>
          <a:xfrm>
            <a:off x="4406900" y="38481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Qualifiers · wk 1</a:t>
            </a:r>
          </a:p>
        </p:txBody>
      </p:sp>
      <p:sp>
        <p:nvSpPr>
          <p:cNvPr id="84" name="Timeline actions 9"/>
          <p:cNvSpPr txBox="1"/>
          <p:nvPr/>
        </p:nvSpPr>
        <p:spPr>
          <a:xfrm>
            <a:off x="4406900" y="41148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Weekend 1: Ahmedabad and Delhi.</a:t>
            </a:r>
          </a:p>
        </p:txBody>
      </p:sp>
      <p:sp>
        <p:nvSpPr>
          <p:cNvPr id="85" name="Timeline space 10: Qualifiers · wk 2"/>
          <p:cNvSpPr/>
          <p:nvPr/>
        </p:nvSpPr>
        <p:spPr>
          <a:xfrm>
            <a:off x="6134100" y="3340100"/>
            <a:ext cx="1739900" cy="1778000"/>
          </a:xfrm>
          <a:prstGeom prst="roundRect">
            <a:avLst>
              <a:gd name="adj" fmla="val 3649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86" name="Timeline strip 10"/>
          <p:cNvSpPr/>
          <p:nvPr/>
        </p:nvSpPr>
        <p:spPr>
          <a:xfrm>
            <a:off x="6134100" y="3340100"/>
            <a:ext cx="1739900" cy="101600"/>
          </a:xfrm>
          <a:prstGeom prst="rect">
            <a:avLst/>
          </a:prstGeom>
          <a:solidFill>
            <a:srgbClr val="E235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7" name="Timeline number 10"/>
          <p:cNvSpPr/>
          <p:nvPr/>
        </p:nvSpPr>
        <p:spPr>
          <a:xfrm>
            <a:off x="6248400" y="3543300"/>
            <a:ext cx="228600" cy="228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8" name="Callout 10 number"/>
          <p:cNvSpPr txBox="1"/>
          <p:nvPr/>
        </p:nvSpPr>
        <p:spPr>
          <a:xfrm>
            <a:off x="6248400" y="35433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10</a:t>
            </a:r>
          </a:p>
        </p:txBody>
      </p:sp>
      <p:sp>
        <p:nvSpPr>
          <p:cNvPr id="89" name="Timeline date 10"/>
          <p:cNvSpPr txBox="1"/>
          <p:nvPr/>
        </p:nvSpPr>
        <p:spPr>
          <a:xfrm>
            <a:off x="6540500" y="3543300"/>
            <a:ext cx="12319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5–6 DEC</a:t>
            </a:r>
          </a:p>
        </p:txBody>
      </p:sp>
      <p:sp>
        <p:nvSpPr>
          <p:cNvPr id="90" name="Timeline phase 10"/>
          <p:cNvSpPr txBox="1"/>
          <p:nvPr/>
        </p:nvSpPr>
        <p:spPr>
          <a:xfrm>
            <a:off x="6248400" y="3848100"/>
            <a:ext cx="15113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Qualifiers · wk 2</a:t>
            </a:r>
          </a:p>
        </p:txBody>
      </p:sp>
      <p:sp>
        <p:nvSpPr>
          <p:cNvPr id="91" name="Timeline actions 10"/>
          <p:cNvSpPr txBox="1"/>
          <p:nvPr/>
        </p:nvSpPr>
        <p:spPr>
          <a:xfrm>
            <a:off x="6248400" y="4114800"/>
            <a:ext cx="15113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Weekend 2: Mumbai, Bengaluru and Pune.</a:t>
            </a:r>
          </a:p>
        </p:txBody>
      </p:sp>
      <p:sp>
        <p:nvSpPr>
          <p:cNvPr id="92" name="Timeline space 11: Finals at MICA"/>
          <p:cNvSpPr/>
          <p:nvPr/>
        </p:nvSpPr>
        <p:spPr>
          <a:xfrm>
            <a:off x="7975600" y="3340100"/>
            <a:ext cx="3581400" cy="1778000"/>
          </a:xfrm>
          <a:prstGeom prst="roundRect">
            <a:avLst>
              <a:gd name="adj" fmla="val 3571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3" name="Timeline strip 11"/>
          <p:cNvSpPr/>
          <p:nvPr/>
        </p:nvSpPr>
        <p:spPr>
          <a:xfrm>
            <a:off x="7975600" y="3340100"/>
            <a:ext cx="3581400" cy="101600"/>
          </a:xfrm>
          <a:prstGeom prst="rect">
            <a:avLst/>
          </a:prstGeom>
          <a:solidFill>
            <a:srgbClr val="8E121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4" name="Timeline number 11"/>
          <p:cNvSpPr/>
          <p:nvPr/>
        </p:nvSpPr>
        <p:spPr>
          <a:xfrm>
            <a:off x="8089900" y="3543300"/>
            <a:ext cx="228600" cy="228600"/>
          </a:xfrm>
          <a:prstGeom prst="ellipse">
            <a:avLst/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5" name="Callout 11 number"/>
          <p:cNvSpPr txBox="1"/>
          <p:nvPr/>
        </p:nvSpPr>
        <p:spPr>
          <a:xfrm>
            <a:off x="8089900" y="3543300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11</a:t>
            </a:r>
          </a:p>
        </p:txBody>
      </p:sp>
      <p:sp>
        <p:nvSpPr>
          <p:cNvPr id="96" name="Timeline date 11"/>
          <p:cNvSpPr txBox="1"/>
          <p:nvPr/>
        </p:nvSpPr>
        <p:spPr>
          <a:xfrm>
            <a:off x="8382000" y="3543300"/>
            <a:ext cx="3073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SAT 12 DEC</a:t>
            </a:r>
          </a:p>
        </p:txBody>
      </p:sp>
      <p:sp>
        <p:nvSpPr>
          <p:cNvPr id="97" name="Timeline phase 11"/>
          <p:cNvSpPr txBox="1"/>
          <p:nvPr/>
        </p:nvSpPr>
        <p:spPr>
          <a:xfrm>
            <a:off x="8089900" y="3848100"/>
            <a:ext cx="3352800" cy="406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Finals at MICA</a:t>
            </a:r>
          </a:p>
        </p:txBody>
      </p:sp>
      <p:sp>
        <p:nvSpPr>
          <p:cNvPr id="98" name="Timeline actions 11"/>
          <p:cNvSpPr txBox="1"/>
          <p:nvPr/>
        </p:nvSpPr>
        <p:spPr>
          <a:xfrm>
            <a:off x="8089900" y="4114800"/>
            <a:ext cx="3352800" cy="787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75" b="0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16 finalists, one champion crowned in Ahmedabad.</a:t>
            </a:r>
          </a:p>
        </p:txBody>
      </p:sp>
      <p:pic>
        <p:nvPicPr>
          <p:cNvPr id="99" name="Trophy (finals)" descr="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400" y="3479800"/>
            <a:ext cx="533400" cy="613410"/>
          </a:xfrm>
          <a:prstGeom prst="rect">
            <a:avLst/>
          </a:prstGeom>
        </p:spPr>
      </p:pic>
      <p:sp>
        <p:nvSpPr>
          <p:cNvPr id="100" name="Pacing label"/>
          <p:cNvSpPr txBox="1"/>
          <p:nvPr/>
        </p:nvSpPr>
        <p:spPr>
          <a:xfrm>
            <a:off x="609600" y="5245100"/>
            <a:ext cx="381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PACING CHECKPOINTS</a:t>
            </a:r>
          </a:p>
        </p:txBody>
      </p:sp>
      <p:sp>
        <p:nvSpPr>
          <p:cNvPr id="101" name="Pacing mark 1"/>
          <p:cNvSpPr/>
          <p:nvPr/>
        </p:nvSpPr>
        <p:spPr>
          <a:xfrm>
            <a:off x="609600" y="5448300"/>
            <a:ext cx="1905000" cy="825500"/>
          </a:xfrm>
          <a:prstGeom prst="roundRect">
            <a:avLst>
              <a:gd name="adj" fmla="val 7692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102" name="Pacing date 1"/>
          <p:cNvSpPr txBox="1"/>
          <p:nvPr/>
        </p:nvSpPr>
        <p:spPr>
          <a:xfrm>
            <a:off x="723900" y="5537200"/>
            <a:ext cx="1676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1 NOV</a:t>
            </a:r>
          </a:p>
        </p:txBody>
      </p:sp>
      <p:sp>
        <p:nvSpPr>
          <p:cNvPr id="103" name="Pacing text 1"/>
          <p:cNvSpPr txBox="1"/>
          <p:nvPr/>
        </p:nvSpPr>
        <p:spPr>
          <a:xfrm>
            <a:off x="723900" y="5715000"/>
            <a:ext cx="1676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150 early birds in</a:t>
            </a:r>
          </a:p>
        </p:txBody>
      </p:sp>
      <p:sp>
        <p:nvSpPr>
          <p:cNvPr id="104" name="Pacing arrow 1"/>
          <p:cNvSpPr txBox="1"/>
          <p:nvPr/>
        </p:nvSpPr>
        <p:spPr>
          <a:xfrm>
            <a:off x="2514600" y="5715000"/>
            <a:ext cx="101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E2353C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105" name="Pacing mark 2"/>
          <p:cNvSpPr/>
          <p:nvPr/>
        </p:nvSpPr>
        <p:spPr>
          <a:xfrm>
            <a:off x="2616200" y="54483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106" name="Pacing date 2"/>
          <p:cNvSpPr txBox="1"/>
          <p:nvPr/>
        </p:nvSpPr>
        <p:spPr>
          <a:xfrm>
            <a:off x="2730500" y="55372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5 NOV</a:t>
            </a:r>
          </a:p>
        </p:txBody>
      </p:sp>
      <p:sp>
        <p:nvSpPr>
          <p:cNvPr id="107" name="Pacing text 2"/>
          <p:cNvSpPr txBox="1"/>
          <p:nvPr/>
        </p:nvSpPr>
        <p:spPr>
          <a:xfrm>
            <a:off x="2730500" y="5715000"/>
            <a:ext cx="4597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Checkpoint: under 200 paid? Shift ad spend to the best channel and escalate the sponsor ask</a:t>
            </a:r>
          </a:p>
        </p:txBody>
      </p:sp>
      <p:sp>
        <p:nvSpPr>
          <p:cNvPr id="108" name="Pacing arrow 2"/>
          <p:cNvSpPr txBox="1"/>
          <p:nvPr/>
        </p:nvSpPr>
        <p:spPr>
          <a:xfrm>
            <a:off x="7442200" y="5715000"/>
            <a:ext cx="101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E2353C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109" name="Pacing mark 3"/>
          <p:cNvSpPr/>
          <p:nvPr/>
        </p:nvSpPr>
        <p:spPr>
          <a:xfrm>
            <a:off x="7543800" y="5448300"/>
            <a:ext cx="1968500" cy="825500"/>
          </a:xfrm>
          <a:prstGeom prst="roundRect">
            <a:avLst>
              <a:gd name="adj" fmla="val 7692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110" name="Pacing date 3"/>
          <p:cNvSpPr txBox="1"/>
          <p:nvPr/>
        </p:nvSpPr>
        <p:spPr>
          <a:xfrm>
            <a:off x="7658100" y="5537200"/>
            <a:ext cx="1739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12 NOV</a:t>
            </a:r>
          </a:p>
        </p:txBody>
      </p:sp>
      <p:sp>
        <p:nvSpPr>
          <p:cNvPr id="111" name="Pacing text 3"/>
          <p:cNvSpPr txBox="1"/>
          <p:nvPr/>
        </p:nvSpPr>
        <p:spPr>
          <a:xfrm>
            <a:off x="7658100" y="5715000"/>
            <a:ext cx="1739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312 paid · pool </a:t>
            </a:r>
            <a:r>
              <a:rPr sz="105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0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20,600</a:t>
            </a:r>
          </a:p>
        </p:txBody>
      </p:sp>
      <p:sp>
        <p:nvSpPr>
          <p:cNvPr id="112" name="Pacing arrow 3"/>
          <p:cNvSpPr txBox="1"/>
          <p:nvPr/>
        </p:nvSpPr>
        <p:spPr>
          <a:xfrm>
            <a:off x="9512300" y="5715000"/>
            <a:ext cx="101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E2353C"/>
                </a:solidFill>
                <a:latin typeface="Space Grotesk"/>
                <a:ea typeface="Space Grotesk"/>
                <a:cs typeface="Space Grotesk"/>
              </a:rPr>
              <a:t>→</a:t>
            </a:r>
          </a:p>
        </p:txBody>
      </p:sp>
      <p:sp>
        <p:nvSpPr>
          <p:cNvPr id="113" name="Pacing mark 4"/>
          <p:cNvSpPr/>
          <p:nvPr/>
        </p:nvSpPr>
        <p:spPr>
          <a:xfrm>
            <a:off x="9613900" y="5448300"/>
            <a:ext cx="1968500" cy="825500"/>
          </a:xfrm>
          <a:prstGeom prst="roundRect">
            <a:avLst>
              <a:gd name="adj" fmla="val 7692"/>
            </a:avLst>
          </a:prstGeom>
          <a:solidFill>
            <a:srgbClr val="1F1F1F"/>
          </a:solidFill>
          <a:ln w="12700">
            <a:solidFill>
              <a:srgbClr val="3A3A3A"/>
            </a:solidFill>
          </a:ln>
        </p:spPr>
        <p:txBody>
          <a:bodyPr rtlCol="0" anchor="ctr"/>
          <a:lstStyle/>
          <a:p/>
        </p:txBody>
      </p:sp>
      <p:sp>
        <p:nvSpPr>
          <p:cNvPr id="114" name="Pacing date 4"/>
          <p:cNvSpPr txBox="1"/>
          <p:nvPr/>
        </p:nvSpPr>
        <p:spPr>
          <a:xfrm>
            <a:off x="9728200" y="5537200"/>
            <a:ext cx="1739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1" i="0" spc="10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22 NOV</a:t>
            </a:r>
          </a:p>
        </p:txBody>
      </p:sp>
      <p:sp>
        <p:nvSpPr>
          <p:cNvPr id="115" name="Pacing text 4"/>
          <p:cNvSpPr txBox="1"/>
          <p:nvPr/>
        </p:nvSpPr>
        <p:spPr>
          <a:xfrm>
            <a:off x="9728200" y="5715000"/>
            <a:ext cx="1739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504 paid · pool </a:t>
            </a:r>
            <a:r>
              <a:rPr sz="105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105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30,000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unning header"/>
          <p:cNvSpPr txBox="1"/>
          <p:nvPr/>
        </p:nvSpPr>
        <p:spPr>
          <a:xfrm>
            <a:off x="609600" y="215900"/>
            <a:ext cx="571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3M CHAMPIONSHIP 2026  ·  THE CAMPAIGN RULEBOOK</a:t>
            </a:r>
          </a:p>
        </p:txBody>
      </p:sp>
      <p:sp>
        <p:nvSpPr>
          <p:cNvPr id="3" name="Section tag"/>
          <p:cNvSpPr txBox="1"/>
          <p:nvPr/>
        </p:nvSpPr>
        <p:spPr>
          <a:xfrm>
            <a:off x="6502400" y="215900"/>
            <a:ext cx="508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5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§ 12  ·  REVENUE · COSTS · SURPLUS · SENSITIVITY</a:t>
            </a:r>
          </a:p>
        </p:txBody>
      </p:sp>
      <p:cxnSp>
        <p:nvCxnSpPr>
          <p:cNvPr id="4" name="Header rule"/>
          <p:cNvCxnSpPr/>
          <p:nvPr/>
        </p:nvCxnSpPr>
        <p:spPr>
          <a:xfrm>
            <a:off x="609600" y="4572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cxnSp>
        <p:nvCxnSpPr>
          <p:cNvPr id="5" name="Fold mark top"/>
          <p:cNvCxnSpPr/>
          <p:nvPr/>
        </p:nvCxnSpPr>
        <p:spPr>
          <a:xfrm>
            <a:off x="6096000" y="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cxnSp>
        <p:nvCxnSpPr>
          <p:cNvPr id="6" name="Fold mark bottom"/>
          <p:cNvCxnSpPr/>
          <p:nvPr/>
        </p:nvCxnSpPr>
        <p:spPr>
          <a:xfrm>
            <a:off x="6096000" y="6743700"/>
            <a:ext cx="0" cy="114300"/>
          </a:xfrm>
          <a:prstGeom prst="line">
            <a:avLst/>
          </a:prstGeom>
          <a:ln w="12700">
            <a:solidFill>
              <a:srgbClr val="B81C23"/>
            </a:solidFill>
          </a:ln>
        </p:spPr>
      </p:cxnSp>
      <p:sp>
        <p:nvSpPr>
          <p:cNvPr id="7" name="Section badge"/>
          <p:cNvSpPr/>
          <p:nvPr/>
        </p:nvSpPr>
        <p:spPr>
          <a:xfrm>
            <a:off x="609600" y="635000"/>
            <a:ext cx="584200" cy="584200"/>
          </a:xfrm>
          <a:prstGeom prst="roundRect">
            <a:avLst>
              <a:gd name="adj" fmla="val 15217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Section number"/>
          <p:cNvSpPr txBox="1"/>
          <p:nvPr/>
        </p:nvSpPr>
        <p:spPr>
          <a:xfrm>
            <a:off x="609600" y="635000"/>
            <a:ext cx="584200" cy="58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12</a:t>
            </a:r>
          </a:p>
        </p:txBody>
      </p:sp>
      <p:sp>
        <p:nvSpPr>
          <p:cNvPr id="9" name="Slide title"/>
          <p:cNvSpPr txBox="1"/>
          <p:nvPr/>
        </p:nvSpPr>
        <p:spPr>
          <a:xfrm>
            <a:off x="1371600" y="6223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Final score: budget &amp; break-even</a:t>
            </a:r>
          </a:p>
        </p:txBody>
      </p:sp>
      <p:cxnSp>
        <p:nvCxnSpPr>
          <p:cNvPr id="10" name="Footer rule"/>
          <p:cNvCxnSpPr/>
          <p:nvPr/>
        </p:nvCxnSpPr>
        <p:spPr>
          <a:xfrm>
            <a:off x="609600" y="6451600"/>
            <a:ext cx="10972800" cy="0"/>
          </a:xfrm>
          <a:prstGeom prst="line">
            <a:avLst/>
          </a:prstGeom>
          <a:ln w="12700">
            <a:solidFill>
              <a:srgbClr val="E7DEDB"/>
            </a:solidFill>
          </a:ln>
        </p:spPr>
      </p:cxnSp>
      <p:pic>
        <p:nvPicPr>
          <p:cNvPr id="11" name="3M seal (footer)" descr="logo_3m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5100"/>
            <a:ext cx="254000" cy="254000"/>
          </a:xfrm>
          <a:prstGeom prst="rect">
            <a:avLst/>
          </a:prstGeom>
        </p:spPr>
      </p:pic>
      <p:sp>
        <p:nvSpPr>
          <p:cNvPr id="12" name="Footer label"/>
          <p:cNvSpPr txBox="1"/>
          <p:nvPr/>
        </p:nvSpPr>
        <p:spPr>
          <a:xfrm>
            <a:off x="939800" y="6565900"/>
            <a:ext cx="4445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MASTERING MARKETING AT MICA</a:t>
            </a:r>
          </a:p>
        </p:txBody>
      </p:sp>
      <p:sp>
        <p:nvSpPr>
          <p:cNvPr id="13" name="Page number"/>
          <p:cNvSpPr txBox="1"/>
          <p:nvPr/>
        </p:nvSpPr>
        <p:spPr>
          <a:xfrm>
            <a:off x="9042400" y="6565900"/>
            <a:ext cx="2540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700" b="0" i="0" spc="150">
                <a:solidFill>
                  <a:srgbClr val="6B6563"/>
                </a:solidFill>
                <a:latin typeface="Space Mono"/>
                <a:ea typeface="Space Mono"/>
                <a:cs typeface="Space Mono"/>
              </a:rPr>
              <a:t>PAGE 12 / 12</a:t>
            </a:r>
          </a:p>
        </p:txBody>
      </p:sp>
      <p:sp>
        <p:nvSpPr>
          <p:cNvPr id="14" name="Label: REVENUE AT 504 PAID"/>
          <p:cNvSpPr txBox="1"/>
          <p:nvPr/>
        </p:nvSpPr>
        <p:spPr>
          <a:xfrm>
            <a:off x="609600" y="14351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REVENUE AT 504 PAID</a:t>
            </a:r>
          </a:p>
        </p:txBody>
      </p:sp>
      <p:graphicFrame>
        <p:nvGraphicFramePr>
          <p:cNvPr id="15" name="Revenue score pad"/>
          <p:cNvGraphicFramePr>
            <a:graphicFrameLocks noGrp="1"/>
          </p:cNvGraphicFramePr>
          <p:nvPr/>
        </p:nvGraphicFramePr>
        <p:xfrm>
          <a:off x="609600" y="1651000"/>
          <a:ext cx="3302000" cy="1752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95500"/>
                <a:gridCol w="1206500"/>
              </a:tblGrid>
              <a:tr h="2921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150 early bird × ₹249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₹37,350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288 regular × ₹299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₹86,112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66 referred × ₹249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₹16,434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Gross revenue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₹1,39,896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Gateway fees (≈2.36%)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−₹3,302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Net revenue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₹1,36,594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Final score card"/>
          <p:cNvSpPr/>
          <p:nvPr/>
        </p:nvSpPr>
        <p:spPr>
          <a:xfrm>
            <a:off x="609600" y="3530600"/>
            <a:ext cx="3302000" cy="2794000"/>
          </a:xfrm>
          <a:prstGeom prst="roundRect">
            <a:avLst>
              <a:gd name="adj" fmla="val 3181"/>
            </a:avLst>
          </a:prstGeom>
          <a:solidFill>
            <a:srgbClr val="14141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Final score label"/>
          <p:cNvSpPr txBox="1"/>
          <p:nvPr/>
        </p:nvSpPr>
        <p:spPr>
          <a:xfrm>
            <a:off x="787400" y="3657600"/>
            <a:ext cx="29845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E2353C"/>
                </a:solidFill>
                <a:latin typeface="Space Mono"/>
                <a:ea typeface="Space Mono"/>
                <a:cs typeface="Space Mono"/>
              </a:rPr>
              <a:t>FINAL SCORE AT 504</a:t>
            </a:r>
          </a:p>
        </p:txBody>
      </p:sp>
      <p:sp>
        <p:nvSpPr>
          <p:cNvPr id="18" name="Final score lines"/>
          <p:cNvSpPr txBox="1"/>
          <p:nvPr/>
        </p:nvSpPr>
        <p:spPr>
          <a:xfrm>
            <a:off x="787400" y="3886200"/>
            <a:ext cx="1905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Net revenue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− Running costs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DD6D4"/>
                </a:solidFill>
                <a:latin typeface="Space Grotesk"/>
                <a:ea typeface="Space Grotesk"/>
                <a:cs typeface="Space Grotesk"/>
              </a:rPr>
              <a:t>− Prize pool (at cap)</a:t>
            </a:r>
          </a:p>
        </p:txBody>
      </p:sp>
      <p:sp>
        <p:nvSpPr>
          <p:cNvPr id="19" name="Final score amounts"/>
          <p:cNvSpPr txBox="1"/>
          <p:nvPr/>
        </p:nvSpPr>
        <p:spPr>
          <a:xfrm>
            <a:off x="2565400" y="3886200"/>
            <a:ext cx="12065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₹1,36,594</a:t>
            </a:r>
          </a:p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₹75,000</a:t>
            </a:r>
          </a:p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₹30,000</a:t>
            </a:r>
          </a:p>
        </p:txBody>
      </p:sp>
      <p:cxnSp>
        <p:nvCxnSpPr>
          <p:cNvPr id="20" name="Final score rule"/>
          <p:cNvCxnSpPr/>
          <p:nvPr/>
        </p:nvCxnSpPr>
        <p:spPr>
          <a:xfrm>
            <a:off x="787400" y="4762500"/>
            <a:ext cx="2984500" cy="0"/>
          </a:xfrm>
          <a:prstGeom prst="line">
            <a:avLst/>
          </a:prstGeom>
          <a:ln w="12700">
            <a:solidFill>
              <a:srgbClr val="3A3A3A"/>
            </a:solidFill>
          </a:ln>
        </p:spPr>
      </p:cxnSp>
      <p:sp>
        <p:nvSpPr>
          <p:cNvPr id="21" name="Surplus"/>
          <p:cNvSpPr txBox="1"/>
          <p:nvPr/>
        </p:nvSpPr>
        <p:spPr>
          <a:xfrm>
            <a:off x="787400" y="4826000"/>
            <a:ext cx="29845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₹</a:t>
            </a:r>
            <a:r>
              <a:rPr sz="3300" b="1" i="0">
                <a:solidFill>
                  <a:srgbClr val="FFFFFF"/>
                </a:solidFill>
                <a:latin typeface="Kumbh Sans"/>
                <a:ea typeface="Kumbh Sans"/>
                <a:cs typeface="Kumbh Sans"/>
              </a:rPr>
              <a:t>31,594</a:t>
            </a:r>
          </a:p>
        </p:txBody>
      </p:sp>
      <p:sp>
        <p:nvSpPr>
          <p:cNvPr id="22" name="Surplus label"/>
          <p:cNvSpPr txBox="1"/>
          <p:nvPr/>
        </p:nvSpPr>
        <p:spPr>
          <a:xfrm>
            <a:off x="787400" y="5308600"/>
            <a:ext cx="2984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2353C"/>
                </a:solidFill>
                <a:latin typeface="Kumbh Sans"/>
                <a:ea typeface="Kumbh Sans"/>
                <a:cs typeface="Kumbh Sans"/>
              </a:rPr>
              <a:t>surplus</a:t>
            </a:r>
          </a:p>
        </p:txBody>
      </p:sp>
      <p:sp>
        <p:nvSpPr>
          <p:cNvPr id="23" name="Surplus note"/>
          <p:cNvSpPr txBox="1"/>
          <p:nvPr/>
        </p:nvSpPr>
        <p:spPr>
          <a:xfrm>
            <a:off x="787400" y="5549900"/>
            <a:ext cx="2984500" cy="711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A8A2A0"/>
                </a:solidFill>
                <a:latin typeface="Space Grotesk"/>
                <a:ea typeface="Space Grotesk"/>
                <a:cs typeface="Space Grotesk"/>
              </a:rPr>
              <a:t>Kept as a reserve for refunds; anything left funds Season 2. Sponsor money and game-kit sales are upside, not counted.</a:t>
            </a:r>
          </a:p>
        </p:txBody>
      </p:sp>
      <p:sp>
        <p:nvSpPr>
          <p:cNvPr id="24" name="Label: RUNNING COSTS (₹)"/>
          <p:cNvSpPr txBox="1"/>
          <p:nvPr/>
        </p:nvSpPr>
        <p:spPr>
          <a:xfrm>
            <a:off x="4165600" y="1435100"/>
            <a:ext cx="3556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RUNNING COSTS (₹)</a:t>
            </a:r>
          </a:p>
        </p:txBody>
      </p:sp>
      <p:graphicFrame>
        <p:nvGraphicFramePr>
          <p:cNvPr id="25" name="Costs score pad"/>
          <p:cNvGraphicFramePr>
            <a:graphicFrameLocks noGrp="1"/>
          </p:cNvGraphicFramePr>
          <p:nvPr/>
        </p:nvGraphicFramePr>
        <p:xfrm>
          <a:off x="4165600" y="1651000"/>
          <a:ext cx="3556000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47800"/>
                <a:gridCol w="546100"/>
                <a:gridCol w="1562100"/>
              </a:tblGrid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Instagram ads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15,000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About 2 lakh reach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Student creators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5,000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Micro-creators, 5 cities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Ambassador incentive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5,000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₹20/paid + ₹2,000 top 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Game sets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16,000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40 sets × ≈₹400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City event costs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10,000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₹2,000 per city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Shipping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6,000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Delhi, then 3 cities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Finals meals &amp; hostel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8,000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16 finalists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Trophies, merch, certs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5,000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For finalists; certs for all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Contingency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5,000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/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25400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Total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75,000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Venues free via clubs</a:t>
                      </a:r>
                    </a:p>
                  </a:txBody>
                  <a:tcPr marL="76200" marR="76200" marT="25400" marB="25400" anchor="ctr">
                    <a:solidFill>
                      <a:srgbClr val="F1E6E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6" name="Break-even card"/>
          <p:cNvSpPr/>
          <p:nvPr/>
        </p:nvSpPr>
        <p:spPr>
          <a:xfrm>
            <a:off x="4165600" y="4381500"/>
            <a:ext cx="3556000" cy="1943100"/>
          </a:xfrm>
          <a:prstGeom prst="roundRect">
            <a:avLst>
              <a:gd name="adj" fmla="val 4575"/>
            </a:avLst>
          </a:prstGeom>
          <a:solidFill>
            <a:srgbClr val="FFFFFF"/>
          </a:solidFill>
          <a:ln w="15875">
            <a:solidFill>
              <a:srgbClr val="141414"/>
            </a:solidFill>
          </a:ln>
        </p:spPr>
        <p:txBody>
          <a:bodyPr rtlCol="0" anchor="ctr"/>
          <a:lstStyle/>
          <a:p/>
        </p:txBody>
      </p:sp>
      <p:sp>
        <p:nvSpPr>
          <p:cNvPr id="27" name="Break-even label"/>
          <p:cNvSpPr txBox="1"/>
          <p:nvPr/>
        </p:nvSpPr>
        <p:spPr>
          <a:xfrm>
            <a:off x="4330700" y="4508500"/>
            <a:ext cx="32385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BREAK-EVEN &amp; DOWNSIDE</a:t>
            </a:r>
          </a:p>
        </p:txBody>
      </p:sp>
      <p:sp>
        <p:nvSpPr>
          <p:cNvPr id="28" name="Break-even"/>
          <p:cNvSpPr txBox="1"/>
          <p:nvPr/>
        </p:nvSpPr>
        <p:spPr>
          <a:xfrm>
            <a:off x="4330700" y="4711700"/>
            <a:ext cx="32385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414"/>
                </a:solidFill>
                <a:latin typeface="Kumbh Sans"/>
                <a:ea typeface="Kumbh Sans"/>
                <a:cs typeface="Kumbh Sans"/>
              </a:rPr>
              <a:t>≈ 370</a:t>
            </a:r>
            <a:r>
              <a:rPr sz="1000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  paid enrolments to break even</a:t>
            </a:r>
          </a:p>
        </p:txBody>
      </p:sp>
      <p:sp>
        <p:nvSpPr>
          <p:cNvPr id="29" name="Downside text"/>
          <p:cNvSpPr txBox="1"/>
          <p:nvPr/>
        </p:nvSpPr>
        <p:spPr>
          <a:xfrm>
            <a:off x="4330700" y="5130800"/>
            <a:ext cx="3238500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25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At 300 paid we would lose about ₹16,600, because the ₹20,000 prize is guaranteed. The hosting marketing club’s events budget covers any shortfall, and sponsors are approached from launch to set a funding floor.</a:t>
            </a:r>
          </a:p>
        </p:txBody>
      </p:sp>
      <p:sp>
        <p:nvSpPr>
          <p:cNvPr id="30" name="Label: SENSITIVITY"/>
          <p:cNvSpPr txBox="1"/>
          <p:nvPr/>
        </p:nvSpPr>
        <p:spPr>
          <a:xfrm>
            <a:off x="7975600" y="1435100"/>
            <a:ext cx="36068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150">
                <a:solidFill>
                  <a:srgbClr val="B81C23"/>
                </a:solidFill>
                <a:latin typeface="Space Mono"/>
                <a:ea typeface="Space Mono"/>
                <a:cs typeface="Space Mono"/>
              </a:rPr>
              <a:t>SENSITIVITY</a:t>
            </a:r>
          </a:p>
        </p:txBody>
      </p:sp>
      <p:graphicFrame>
        <p:nvGraphicFramePr>
          <p:cNvPr id="31" name="Sensitivity score pad"/>
          <p:cNvGraphicFramePr>
            <a:graphicFrameLocks noGrp="1"/>
          </p:cNvGraphicFramePr>
          <p:nvPr/>
        </p:nvGraphicFramePr>
        <p:xfrm>
          <a:off x="7975600" y="1651000"/>
          <a:ext cx="3606800" cy="1841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482600"/>
                <a:gridCol w="698500"/>
                <a:gridCol w="825500"/>
              </a:tblGrid>
              <a:tr h="36830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SCENARIO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0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PAID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0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POOL (₹)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600" b="1" i="0" spc="100">
                          <a:solidFill>
                            <a:srgbClr val="FFFFFF"/>
                          </a:solidFill>
                          <a:latin typeface="Space Mono"/>
                          <a:ea typeface="Space Mono"/>
                          <a:cs typeface="Space Mono"/>
                        </a:rPr>
                        <a:t>SURPLUS (₹)</a:t>
                      </a:r>
                    </a:p>
                  </a:txBody>
                  <a:tcPr marL="76200" marR="76200" marT="25400" marB="25400" anchor="ctr">
                    <a:solidFill>
                      <a:srgbClr val="14141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Base case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504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30,000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31,594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Instagram click rate falls to 0.8%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460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28,000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21,042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Ambassadors deliver half (72, not 144)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421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26,050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11,850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  <a:tr h="368300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Every channel at 75% of plan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377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23,850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41414"/>
                          </a:solidFill>
                          <a:latin typeface="Space Grotesk"/>
                          <a:ea typeface="Space Grotesk"/>
                          <a:cs typeface="Space Grotesk"/>
                        </a:rPr>
                        <a:t>1,498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7DE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Sensitivity note"/>
          <p:cNvSpPr txBox="1"/>
          <p:nvPr/>
        </p:nvSpPr>
        <p:spPr>
          <a:xfrm>
            <a:off x="7975600" y="3556000"/>
            <a:ext cx="36068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Even if the riskiest channel delivers half, or every channel falls short by a quarter, the campaign still breaks even.</a:t>
            </a:r>
          </a:p>
        </p:txBody>
      </p:sp>
      <p:sp>
        <p:nvSpPr>
          <p:cNvPr id="33" name="Credits box"/>
          <p:cNvSpPr/>
          <p:nvPr/>
        </p:nvSpPr>
        <p:spPr>
          <a:xfrm>
            <a:off x="7975600" y="4064000"/>
            <a:ext cx="3606800" cy="1447800"/>
          </a:xfrm>
          <a:prstGeom prst="roundRect">
            <a:avLst>
              <a:gd name="adj" fmla="val 6140"/>
            </a:avLst>
          </a:prstGeom>
          <a:noFill/>
          <a:ln w="15875">
            <a:solidFill>
              <a:srgbClr val="B81C23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4" name="Credits tab"/>
          <p:cNvSpPr/>
          <p:nvPr/>
        </p:nvSpPr>
        <p:spPr>
          <a:xfrm>
            <a:off x="8128000" y="3975100"/>
            <a:ext cx="1270000" cy="177800"/>
          </a:xfrm>
          <a:prstGeom prst="roundRect">
            <a:avLst>
              <a:gd name="adj" fmla="val 21428"/>
            </a:avLst>
          </a:prstGeom>
          <a:solidFill>
            <a:srgbClr val="B81C2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Credits tab text"/>
          <p:cNvSpPr txBox="1"/>
          <p:nvPr/>
        </p:nvSpPr>
        <p:spPr>
          <a:xfrm>
            <a:off x="8128000" y="39751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650" b="1" i="0" spc="10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CREDITS &amp; AI LOG</a:t>
            </a:r>
          </a:p>
        </p:txBody>
      </p:sp>
      <p:sp>
        <p:nvSpPr>
          <p:cNvPr id="36" name="Credits text"/>
          <p:cNvSpPr txBox="1"/>
          <p:nvPr/>
        </p:nvSpPr>
        <p:spPr>
          <a:xfrm>
            <a:off x="8128000" y="4229100"/>
            <a:ext cx="3327400" cy="1244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25" b="0" i="0">
                <a:solidFill>
                  <a:srgbClr val="6B6563"/>
                </a:solidFill>
                <a:latin typeface="Space Grotesk"/>
                <a:ea typeface="Space Grotesk"/>
                <a:cs typeface="Space Grotesk"/>
              </a:rPr>
              <a:t>Campaign by </a:t>
            </a:r>
            <a:r>
              <a:rPr sz="825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[Group name / members]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825" b="1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Made with Claude (Anthropic), used across the whole process: </a:t>
            </a:r>
            <a:r>
              <a:rPr sz="825" b="0" i="0">
                <a:solidFill>
                  <a:srgbClr val="141414"/>
                </a:solidFill>
                <a:latin typeface="Space Grotesk"/>
                <a:ea typeface="Space Grotesk"/>
                <a:cs typeface="Space Grotesk"/>
              </a:rPr>
              <a:t>game and tournament design, funnel and budget model, copywriting, landing page, poster, social posts and captions, WhatsApp sequence, and this campaign deck.</a:t>
            </a:r>
          </a:p>
        </p:txBody>
      </p:sp>
      <p:sp>
        <p:nvSpPr>
          <p:cNvPr id="37" name="Tagline sign-off"/>
          <p:cNvSpPr txBox="1"/>
          <p:nvPr/>
        </p:nvSpPr>
        <p:spPr>
          <a:xfrm>
            <a:off x="7975600" y="5664200"/>
            <a:ext cx="3606800" cy="660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2000"/>
              </a:lnSpc>
            </a:pPr>
            <a:r>
              <a:rPr sz="20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Play the Market.</a:t>
            </a:r>
          </a:p>
          <a:p>
            <a:pPr algn="l">
              <a:lnSpc>
                <a:spcPct val="102000"/>
              </a:lnSpc>
            </a:pPr>
            <a:r>
              <a:rPr sz="2000" b="1" i="0">
                <a:solidFill>
                  <a:srgbClr val="B81C23"/>
                </a:solidFill>
                <a:latin typeface="Kumbh Sans"/>
                <a:ea typeface="Kumbh Sans"/>
                <a:cs typeface="Kumbh Sans"/>
              </a:rPr>
              <a:t>Win the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